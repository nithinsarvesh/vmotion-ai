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731520"/>
            <a:ext cx="999713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0"/>
          <a:lstStyle/>
          <a:p>
            <a:pPr algn="ctr">
              <a:spcAft>
                <a:spcPts val="10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B.TECH CAPSTONE EVALUATION • DIGITAL ASSIGNMENT 1 (DA1)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Arial"/>
              </a:defRPr>
            </a:pPr>
            <a:r>
              <a:t>VMotion AI</a:t>
            </a:r>
          </a:p>
          <a:p>
            <a:pPr>
              <a:spcAft>
                <a:spcPts val="36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AI-Powered Virtual Machine Migration using Reinforcement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3474720"/>
            <a:ext cx="8534095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  <a:latin typeface="Arial"/>
              </a:defRPr>
            </a:pPr>
            <a:r>
              <a:t>Nithin Sarvesh M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  <a:latin typeface="Arial"/>
              </a:defRPr>
            </a:pPr>
            <a:r>
              <a:t>B.Tech Computer Science and Engineering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Arial"/>
              </a:defRPr>
            </a:pPr>
            <a:r>
              <a:t>School of Computer Science and Engineering (SCOPE)</a:t>
            </a:r>
          </a:p>
          <a:p>
            <a:pPr>
              <a:defRPr sz="1100" b="1">
                <a:solidFill>
                  <a:srgbClr val="334155"/>
                </a:solidFill>
                <a:latin typeface="Arial"/>
              </a:defRPr>
            </a:pPr>
            <a:r>
              <a:t>Vellore Institute of Technology (VIT), Chennai, Tamil Nadu, India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PROBLEM OVERVIEW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Why Traditional VM Migration Needs an Intelligent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>
              <a:defRPr b="1" sz="1100">
                <a:solidFill>
                  <a:srgbClr val="2563EB"/>
                </a:solidFill>
                <a:latin typeface="Arial"/>
              </a:defRPr>
            </a:pPr>
            <a:r>
              <a:t>1. Dynamic Workload Bursts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User traffic spikes unpredictably on cloud servers.</a:t>
            </a:r>
          </a:p>
          <a:p>
            <a:pPr>
              <a:defRPr b="1" sz="1100">
                <a:solidFill>
                  <a:srgbClr val="2563EB"/>
                </a:solidFill>
                <a:latin typeface="Arial"/>
              </a:defRPr>
            </a:pPr>
            <a:r>
              <a:t>2. Resource Hotspots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One server hits 90%+ CPU while neighboring servers stay underutilized.</a:t>
            </a:r>
          </a:p>
          <a:p>
            <a:pPr>
              <a:defRPr b="1" sz="1100">
                <a:solidFill>
                  <a:srgbClr val="2563EB"/>
                </a:solidFill>
                <a:latin typeface="Arial"/>
              </a:defRPr>
            </a:pPr>
            <a:r>
              <a:t>3. SLA Degradation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Customer applications experience latency spikes and slow responses.</a:t>
            </a:r>
          </a:p>
          <a:p>
            <a:pPr>
              <a:defRPr b="1" sz="1100">
                <a:solidFill>
                  <a:srgbClr val="2563EB"/>
                </a:solidFill>
                <a:latin typeface="Arial"/>
              </a:defRPr>
            </a:pPr>
            <a:r>
              <a:t>4. Flapping &amp; Thrashing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Static rules (e.g. CPU &gt; 80%) trigger migrations back and forth repeatedly.</a:t>
            </a:r>
          </a:p>
          <a:p>
            <a:pPr>
              <a:defRPr b="1" sz="1100">
                <a:solidFill>
                  <a:srgbClr val="2563EB"/>
                </a:solidFill>
                <a:latin typeface="Arial"/>
              </a:defRPr>
            </a:pPr>
            <a:r>
              <a:t>5. Operator Bottleneck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Manual intervention takes minutes; by then, performance has already dropped.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THE CORE INFRASTRUCTURE DILEMMA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6655" y="146304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2563EB"/>
                </a:solidFill>
                <a:latin typeface="Arial"/>
              </a:defRPr>
            </a:pPr>
            <a:r>
              <a:t>PROBLEM STATEMENT:</a:t>
            </a:r>
          </a:p>
          <a:p>
            <a:pPr>
              <a:spcAft>
                <a:spcPts val="1600"/>
              </a:spcAft>
              <a:defRPr sz="1300" i="1">
                <a:solidFill>
                  <a:srgbClr val="0F172A"/>
                </a:solidFill>
                <a:latin typeface="Arial"/>
              </a:defRPr>
            </a:pPr>
            <a:r>
              <a:t>"How can we automatically rebalance virtual machines across infrastructure nodes using reinforcement learning, while ensuring that the AI cannot make unsafe or destabilizing migration decisions?"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Arial"/>
              </a:defRPr>
            </a:pPr>
            <a:r>
              <a:t>Key Challenges We Address: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• Multi-metric trade-offs: balancing CPU, RAM, network, and migration cost simultaneously.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• Preventing AI mistakes: pure RL models can hallucinate or suggest unsafe destinations.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• Migration cost awareness: each migration consumes network bandwidth and hypervisor CPU.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• Human oversight: giving system operators full visibility and final approval.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9535" y="1600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PROBLEM STATEMENT &amp; CHALLENGE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MOTIVATION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Why Intelligent Migration Matters in Cloud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50">
                <a:solidFill>
                  <a:srgbClr val="334155"/>
                </a:solidFill>
                <a:latin typeface="Arial"/>
              </a:defRPr>
            </a:pPr>
            <a:r>
              <a:t>Cloud applications fluctuate constantly throughout the day. Static threshold rules cannot look ahead or account for how workloads interact on the same physical host.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1. DYNAMIC WORKLOAD DEMANDS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50">
                <a:solidFill>
                  <a:srgbClr val="334155"/>
                </a:solidFill>
                <a:latin typeface="Arial"/>
              </a:defRPr>
            </a:pPr>
            <a:r>
              <a:t>Live migration allows moving a running VM with negligible user downtime. Doing this intelligently balances cluster load, improves fairness, and avoids server throttling.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2. SMARTER RESOURCE BALANCING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50">
                <a:solidFill>
                  <a:srgbClr val="334155"/>
                </a:solidFill>
                <a:latin typeface="Arial"/>
              </a:defRPr>
            </a:pPr>
            <a:r>
              <a:t>Moving a VM is not free. It consumes interconnect bandwidth and hypervisor memory cycles. An intelligent agent learns to migrate only when the benefit outweighs the transient cost.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3. ACCOUNTING FOR MIGRATION COSTS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393192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50">
                <a:solidFill>
                  <a:srgbClr val="334155"/>
                </a:solidFill>
                <a:latin typeface="Arial"/>
              </a:defRPr>
            </a:pPr>
            <a:r>
              <a:t>A reinforcement learning model is a statistical decision-maker. We should never let an AI directly run infrastructure commands without a deterministic safety gate verifying capacity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0975" y="40690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4. WHY A SAFETY LAYER IS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PROJECT SCOPE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What VMotion AI Was Built to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50">
                <a:solidFill>
                  <a:srgbClr val="334155"/>
                </a:solidFill>
                <a:latin typeface="Arial"/>
              </a:defRPr>
            </a:pPr>
            <a:r>
              <a:t>Collect node and VM metrics (CPU, RAM, Network, Disk) and convert them into a normalized 103-dimensional state vector that the RL model can understand.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1. REAL-TIME TELEMETRY &amp; STATE ENCODING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50">
                <a:solidFill>
                  <a:srgbClr val="334155"/>
                </a:solidFill>
                <a:latin typeface="Arial"/>
              </a:defRPr>
            </a:pPr>
            <a:r>
              <a:t>Train a MaskablePPO agent on a Discrete(7) action space with cooldown action masking to identify which virtual machine should be migrated.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2. REINFORCEMENT LEARNING WITH PPO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50">
                <a:solidFill>
                  <a:srgbClr val="334155"/>
                </a:solidFill>
                <a:latin typeface="Arial"/>
              </a:defRPr>
            </a:pPr>
            <a:r>
              <a:t>Build a separate software layer that independently checks target CPU, RAM headroom, node health, quorum, and cooldown before any migration can proceed.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3. DETERMINISTIC 8-RULE SAFETY GATE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393192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50">
                <a:solidFill>
                  <a:srgbClr val="334155"/>
                </a:solidFill>
                <a:latin typeface="Arial"/>
              </a:defRPr>
            </a:pPr>
            <a:r>
              <a:t>Require explicit human operator approval by default, track migrations across a 12-state FSM, and verify guest-agent health after migration.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0975" y="40690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4. OPERATOR APPROVAL &amp;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COMPARISON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Existing Migration Approaches vs. VMotion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97680"/>
                <a:gridCol w="4327855"/>
              </a:tblGrid>
              <a:tr h="77724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Aspect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Traditional Threshold / Heuristic Approach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VMotion AI Approach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Decision Strategy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Static rule triggers (e.g., if CPU &gt; 80% then migrate). Reactive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Reinforcement Learning (PPO) optimizes for overall cluster balance over time.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Cluster Awareness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Looks at single-server metrics; misses cluster-wide load skew.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103-feature state vector tracks all nodes, VMs, and cluster fairness.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Flapping Prevention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Crude delays; VMs often migrate back and forth during load spikes.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60-second cooldown dynamically enforced via invalid action masking.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Safety &amp; Reliability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Rules execute directly on servers; no independent verification step.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Separate 8-rule safety gate verifies target capacity before any command runs.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Human Control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Either completely manual (slow tickets) or unmonitored script execution.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Two-phase workflow: operator sees AI recommendation and must approve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SYSTEM DESIGN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Decoupled Multi-Tier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274320" wrap="square"/>
          <a:lstStyle/>
          <a:p>
            <a:pPr algn="ctr">
              <a:defRPr b="1" sz="1000">
                <a:solidFill>
                  <a:srgbClr val="2563EB"/>
                </a:solidFill>
                <a:latin typeface="Arial"/>
              </a:defRPr>
            </a:pPr>
            <a:r>
              <a:t>TIER 1: INFRASTRUCTURE LAYER</a:t>
            </a:r>
          </a:p>
          <a:p>
            <a:pPr>
              <a:defRPr b="1" sz="1100">
                <a:solidFill>
                  <a:srgbClr val="0F172A"/>
                </a:solidFill>
                <a:latin typeface="Arial"/>
              </a:defRPr>
            </a:pPr>
            <a:r>
              <a:t>Proxmox VE 9.x Cluster / High-Fidelity Simulation Engine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Collects physical node telemetry, VM status, and handles live QEMU migration over cluster networking.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33472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274320" wrap="square"/>
          <a:lstStyle/>
          <a:p>
            <a:pPr algn="ctr">
              <a:defRPr b="1" sz="1000">
                <a:solidFill>
                  <a:srgbClr val="4F46E5"/>
                </a:solidFill>
                <a:latin typeface="Arial"/>
              </a:defRPr>
            </a:pPr>
            <a:r>
              <a:t>TIER 2: TELEMETRY &amp; 103-FEATURE OBSERVATION ADAPTER</a:t>
            </a:r>
          </a:p>
          <a:p>
            <a:pPr>
              <a:defRPr b="1" sz="1100">
                <a:solidFill>
                  <a:srgbClr val="0F172A"/>
                </a:solidFill>
                <a:latin typeface="Arial"/>
              </a:defRPr>
            </a:pPr>
            <a:r>
              <a:t>Feature Extractor, Rolling Telemetry Buffer, Jain's Fairness Calculator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Converts raw cluster metrics into a normalized 103-dimensional state vector every 2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03904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274320" wrap="square"/>
          <a:lstStyle/>
          <a:p>
            <a:pPr algn="ctr">
              <a:defRPr b="1" sz="1000">
                <a:solidFill>
                  <a:srgbClr val="D97706"/>
                </a:solidFill>
                <a:latin typeface="Arial"/>
              </a:defRPr>
            </a:pPr>
            <a:r>
              <a:t>TIER 3: REINFORCEMENT LEARNING DECISION ENGINE</a:t>
            </a:r>
          </a:p>
          <a:p>
            <a:pPr>
              <a:defRPr b="1" sz="1100">
                <a:solidFill>
                  <a:srgbClr val="0F172A"/>
                </a:solidFill>
                <a:latin typeface="Arial"/>
              </a:defRPr>
            </a:pPr>
            <a:r>
              <a:t>MaskablePPO Model (PPO V5) + Action Masking + Destination Resolver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Evaluates cluster state, selects which VM to relocate, and resolves the best target node based on headroom.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74336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274320" wrap="square"/>
          <a:lstStyle/>
          <a:p>
            <a:pPr algn="ctr">
              <a:defRPr b="1" sz="1000">
                <a:solidFill>
                  <a:srgbClr val="10B981"/>
                </a:solidFill>
                <a:latin typeface="Arial"/>
              </a:defRPr>
            </a:pPr>
            <a:r>
              <a:t>TIER 4: SAFETY GATE, OPERATOR APPROVAL &amp; STATE MACHINE</a:t>
            </a:r>
          </a:p>
          <a:p>
            <a:pPr>
              <a:defRPr b="1" sz="1100">
                <a:solidFill>
                  <a:srgbClr val="0F172A"/>
                </a:solidFill>
                <a:latin typeface="Arial"/>
              </a:defRPr>
            </a:pPr>
            <a:r>
              <a:t>Deterministic 8-Rule Safety Gate, Stage 03 Operator Approval, 12-State Migration FSM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Independently audits migration safety, requires operator signoff, streams task progress, and verifies guest health.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WORKFLOW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End-to-End Migration Lifecycle (Step by 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 rIns="18288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2563EB"/>
                </a:solidFill>
                <a:latin typeface="Arial"/>
              </a:defRPr>
            </a:pPr>
            <a:r>
              <a:t>Step 1: Collect Telemetry</a:t>
            </a:r>
          </a:p>
          <a:p>
            <a:pPr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Query hypervisor or simulation every 2 seconds for CPU, RAM, Disk, and Network stats.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463040"/>
            <a:ext cx="2514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 rIns="18288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2563EB"/>
                </a:solidFill>
                <a:latin typeface="Arial"/>
              </a:defRPr>
            </a:pPr>
            <a:r>
              <a:t>Step 2: Build 103-Dim State</a:t>
            </a:r>
          </a:p>
          <a:p>
            <a:pPr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Normalize raw telemetry into a unified feature vector bounded between -1.0 and 1.0.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514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 rIns="18288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4F46E5"/>
                </a:solidFill>
                <a:latin typeface="Arial"/>
              </a:defRPr>
            </a:pPr>
            <a:r>
              <a:t>Step 3: Mask Invalid Actions</a:t>
            </a:r>
          </a:p>
          <a:p>
            <a:pPr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Disable any VM currently in a 60s cooldown or in a stopped state from being selected.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463040"/>
            <a:ext cx="2514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 rIns="18288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4F46E5"/>
                </a:solidFill>
                <a:latin typeface="Arial"/>
              </a:defRPr>
            </a:pPr>
            <a:r>
              <a:t>Step 4: PPO Policy Evaluation</a:t>
            </a:r>
          </a:p>
          <a:p>
            <a:pPr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The PPO V5 model evaluates the state vector and recommends the best VM to migrate.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77056"/>
            <a:ext cx="2514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 rIns="18288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D97706"/>
                </a:solidFill>
                <a:latin typeface="Arial"/>
              </a:defRPr>
            </a:pPr>
            <a:r>
              <a:t>Step 5: Pick Best Target Host</a:t>
            </a:r>
          </a:p>
          <a:p>
            <a:pPr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Headroom resolver identifies the host with the most available CPU/RAM capacity.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3877056"/>
            <a:ext cx="2514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 rIns="18288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D97706"/>
                </a:solidFill>
                <a:latin typeface="Arial"/>
              </a:defRPr>
            </a:pPr>
            <a:r>
              <a:t>Step 6: Run Safety Gate Checks</a:t>
            </a:r>
          </a:p>
          <a:p>
            <a:pPr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8 deterministic rules check memory margin, CPU ceiling, node health, and quorum.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3877056"/>
            <a:ext cx="2514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 rIns="18288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10B981"/>
                </a:solidFill>
                <a:latin typeface="Arial"/>
              </a:defRPr>
            </a:pPr>
            <a:r>
              <a:t>Step 7: Operator Approval</a:t>
            </a:r>
          </a:p>
          <a:p>
            <a:pPr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Proposal appears on dashboard; human administrator approves or rejects the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3877056"/>
            <a:ext cx="2514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 rIns="18288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10B981"/>
                </a:solidFill>
                <a:latin typeface="Arial"/>
              </a:defRPr>
            </a:pPr>
            <a:r>
              <a:t>Step 8: Execute &amp; Verify Health</a:t>
            </a:r>
          </a:p>
          <a:p>
            <a:pPr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Dispatch migration, monitor task progress, verify destination placement, and ping guest agent.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IMPLEMENTATION MODULES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Core Software Components in the VMotion AI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spcAft>
                <a:spcPts val="12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Polls hypervisors and extracts the 103-dimensional state vector with bounds checking [-1, 1].</a:t>
            </a:r>
          </a:p>
          <a:p>
            <a:pPr>
              <a:defRPr b="1" sz="950">
                <a:solidFill>
                  <a:srgbClr val="2563EB"/>
                </a:solidFill>
                <a:latin typeface="Arial"/>
              </a:defRPr>
            </a:pPr>
            <a:r>
              <a:t>Status: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TELEMETRY &amp; ADAPTER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46304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spcAft>
                <a:spcPts val="12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Loads trained MaskablePPO weights, evaluates policy distributions, and provides heuristic fallback.</a:t>
            </a:r>
          </a:p>
          <a:p>
            <a:pPr>
              <a:defRPr b="1" sz="950">
                <a:solidFill>
                  <a:srgbClr val="4F46E5"/>
                </a:solidFill>
                <a:latin typeface="Arial"/>
              </a:defRPr>
            </a:pPr>
            <a:r>
              <a:t>Status: COMPLETE (V5)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856" y="16002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PPO DECISION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146304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spcAft>
                <a:spcPts val="12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Independently enforces 8 physical capacity rules; operates fail-closed to block unsafe actions.</a:t>
            </a:r>
          </a:p>
          <a:p>
            <a:pPr>
              <a:defRPr b="1" sz="950">
                <a:solidFill>
                  <a:srgbClr val="10B981"/>
                </a:solidFill>
                <a:latin typeface="Arial"/>
              </a:defRPr>
            </a:pPr>
            <a:r>
              <a:t>Status: 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6002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DETERMINISTIC SAFETY GATE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spcAft>
                <a:spcPts val="12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Tracks each migration across 12 states, manages operator approval, and verifies post-placement state.</a:t>
            </a:r>
          </a:p>
          <a:p>
            <a:pPr>
              <a:defRPr b="1" sz="950">
                <a:solidFill>
                  <a:srgbClr val="D97706"/>
                </a:solidFill>
                <a:latin typeface="Arial"/>
              </a:defRPr>
            </a:pPr>
            <a:r>
              <a:t>Status: 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MIGRATION FSM PLANNER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39319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spcAft>
                <a:spcPts val="12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Connects to Proxmox REST API v2, parses task UPIDs, and checks QEMU guest-agent health.</a:t>
            </a:r>
          </a:p>
          <a:p>
            <a:pPr>
              <a:defRPr b="1" sz="950">
                <a:solidFill>
                  <a:srgbClr val="2563EB"/>
                </a:solidFill>
                <a:latin typeface="Arial"/>
              </a:defRPr>
            </a:pPr>
            <a:r>
              <a:t>Status: MOCK TESTED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40690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PROXMOX VE PROVIDER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39319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spcAft>
                <a:spcPts val="12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React 19 and Three.js 3D web interface showing real-time cluster state, AI reasoning, and audit logs.</a:t>
            </a:r>
          </a:p>
          <a:p>
            <a:pPr>
              <a:defRPr b="1" sz="950">
                <a:solidFill>
                  <a:srgbClr val="10B981"/>
                </a:solidFill>
                <a:latin typeface="Arial"/>
              </a:defRPr>
            </a:pPr>
            <a:r>
              <a:t>Status: 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40690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CONTROL DASHBOARD (UI)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REINFORCEMENT LEARNING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How the PPO Model Makes Migration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>
              <a:spcAft>
                <a:spcPts val="400"/>
              </a:spcAft>
              <a:defRPr b="1" sz="1100">
                <a:solidFill>
                  <a:srgbClr val="2563EB"/>
                </a:solidFill>
                <a:latin typeface="Arial"/>
              </a:defRPr>
            </a:pPr>
            <a:r>
              <a:t>103-FEATURE OBSERVATION VECTOR:</a:t>
            </a:r>
          </a:p>
          <a:p>
            <a:pPr>
              <a:spcAft>
                <a:spcPts val="16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• 24 Node Features (0..23): CPU util, RAM util, network RX/TX, disk util, and headroom for all 3 nodes.</a:t>
            </a:r>
            <a:br/>
            <a:r>
              <a:t>• 60 VM Features (24..83): CPU util, RAM allocated, RAM used, network IO, SLA priority, cooldown timer, uptime, and host ID for 6 VMs.</a:t>
            </a:r>
            <a:br/>
            <a:r>
              <a:t>• 19 Cluster Features (84..102): Jain's Fairness Index (CPU/RAM), standard deviation, power index, quorum, and storage health.</a:t>
            </a:r>
          </a:p>
          <a:p>
            <a:pPr>
              <a:spcAft>
                <a:spcPts val="400"/>
              </a:spcAft>
              <a:defRPr b="1" sz="1100">
                <a:solidFill>
                  <a:srgbClr val="2563EB"/>
                </a:solidFill>
                <a:latin typeface="Arial"/>
              </a:defRPr>
            </a:pPr>
            <a:r>
              <a:t>DISCRETE(7) ACTION SPACE:</a:t>
            </a:r>
          </a:p>
          <a:p>
            <a:pPr>
              <a:defRPr sz="1000">
                <a:solidFill>
                  <a:srgbClr val="334155"/>
                </a:solidFill>
                <a:latin typeface="Arial"/>
              </a:defRPr>
            </a:pPr>
            <a:r>
              <a:t>• Action 0 = No-Op (Leave cluster as is; cluster in equilibrium).</a:t>
            </a:r>
            <a:br/>
            <a:r>
              <a:t>• Actions 1..6 = Migrate VM 1 through 6.</a:t>
            </a:r>
            <a:br/>
            <a:r>
              <a:t>• Destination Target = Chosen deterministically by finding the node with the highest unallocated capacity.</a:t>
            </a:r>
            <a:br/>
            <a:r>
              <a:t>• Action Masking = Masks out VMs that migrated within the last 60 seconds or are currently stopped.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STATE &amp; ACTION FORMULATION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>
              <a:spcAft>
                <a:spcPts val="400"/>
              </a:spcAft>
              <a:defRPr b="1" sz="1100">
                <a:solidFill>
                  <a:srgbClr val="4F46E5"/>
                </a:solidFill>
                <a:latin typeface="Arial"/>
              </a:defRPr>
            </a:pPr>
            <a:r>
              <a:t>BALANCING GOALS &amp; PENALTIES:</a:t>
            </a:r>
          </a:p>
          <a:p>
            <a:pPr>
              <a:spcAft>
                <a:spcPts val="1200"/>
              </a:spcAft>
              <a:defRPr b="1" sz="1050">
                <a:solidFill>
                  <a:srgbClr val="0F172A"/>
                </a:solidFill>
                <a:latin typeface="Arial"/>
              </a:defRPr>
            </a:pPr>
            <a:r>
              <a:t>Reward = Balance + Stability - SLA Penalty - Overload Penalty - Migration Cost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+ Load Balance Dividend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Rewards uniform CPU spread across servers using Jain's Fairness Index (+2.5 * Jain).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+ Stability Bonus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+1.0 reward for choosing No-Op when cluster is already well balanced (prevents flapping).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- SLA Breach Penalty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-2.0 penalty whenever a workload exceeds its assigned SLA ceiling.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- Host Overload Penalty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-4.0 penalty if any server exceeds 85% CPU capacity (heavy penalty).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- Migration Overhead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-0.8 cost for each migration to account for network bandwidth and memory copying.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MULTI-OBJECTIVE REWARD FUNCTION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EXPERIMENTAL RESULTS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Comparing PPO V4 (Collapse) with PPO V5 (Balanced Training)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182880" wrap="square"/>
          <a:lstStyle/>
          <a:p>
            <a:pPr algn="ctr">
              <a:spcAft>
                <a:spcPts val="800"/>
              </a:spcAft>
              <a:defRPr b="1" sz="1100">
                <a:solidFill>
                  <a:srgbClr val="0F172A"/>
                </a:solidFill>
                <a:latin typeface="Arial"/>
              </a:defRPr>
            </a:pPr>
            <a:r>
              <a:t>Overall Mean Reward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V4: -263.48</a:t>
            </a:r>
          </a:p>
          <a:p>
            <a:pPr>
              <a:spcAft>
                <a:spcPts val="400"/>
              </a:spcAft>
              <a:defRPr b="1" sz="1400">
                <a:solidFill>
                  <a:srgbClr val="10B981"/>
                </a:solidFill>
                <a:latin typeface="Arial"/>
              </a:defRPr>
            </a:pPr>
            <a:r>
              <a:t>V5: +55.81</a:t>
            </a:r>
          </a:p>
          <a:p>
            <a:pPr>
              <a:defRPr b="1" sz="1000">
                <a:solidFill>
                  <a:srgbClr val="10B981"/>
                </a:solidFill>
                <a:latin typeface="Arial"/>
              </a:defRPr>
            </a:pPr>
            <a:r>
              <a:t>Change: +319.29 points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V5 actively balances cluster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463040"/>
            <a:ext cx="25146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182880" wrap="square"/>
          <a:lstStyle/>
          <a:p>
            <a:pPr algn="ctr">
              <a:spcAft>
                <a:spcPts val="800"/>
              </a:spcAft>
              <a:defRPr b="1" sz="1100">
                <a:solidFill>
                  <a:srgbClr val="0F172A"/>
                </a:solidFill>
                <a:latin typeface="Arial"/>
              </a:defRPr>
            </a:pPr>
            <a:r>
              <a:t>Unseen Test Split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V4: -53.16</a:t>
            </a:r>
          </a:p>
          <a:p>
            <a:pPr>
              <a:spcAft>
                <a:spcPts val="400"/>
              </a:spcAft>
              <a:defRPr b="1" sz="1400">
                <a:solidFill>
                  <a:srgbClr val="10B981"/>
                </a:solidFill>
                <a:latin typeface="Arial"/>
              </a:defRPr>
            </a:pPr>
            <a:r>
              <a:t>V5: +154.93</a:t>
            </a:r>
          </a:p>
          <a:p>
            <a:pPr>
              <a:defRPr b="1" sz="1000">
                <a:solidFill>
                  <a:srgbClr val="10B981"/>
                </a:solidFill>
                <a:latin typeface="Arial"/>
              </a:defRPr>
            </a:pPr>
            <a:r>
              <a:t>Change: +208.09 points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Strong generalization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5146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182880" wrap="square"/>
          <a:lstStyle/>
          <a:p>
            <a:pPr algn="ctr">
              <a:spcAft>
                <a:spcPts val="800"/>
              </a:spcAft>
              <a:defRPr b="1" sz="1100">
                <a:solidFill>
                  <a:srgbClr val="0F172A"/>
                </a:solidFill>
                <a:latin typeface="Arial"/>
              </a:defRPr>
            </a:pPr>
            <a:r>
              <a:t>Server Overload Steps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V4: 60.22</a:t>
            </a:r>
          </a:p>
          <a:p>
            <a:pPr>
              <a:spcAft>
                <a:spcPts val="400"/>
              </a:spcAft>
              <a:defRPr b="1" sz="1400">
                <a:solidFill>
                  <a:srgbClr val="2563EB"/>
                </a:solidFill>
                <a:latin typeface="Arial"/>
              </a:defRPr>
            </a:pPr>
            <a:r>
              <a:t>V5: 7.33</a:t>
            </a:r>
          </a:p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Change: -52.89 steps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-87.8% hotspot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463040"/>
            <a:ext cx="25146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182880" wrap="square"/>
          <a:lstStyle/>
          <a:p>
            <a:pPr algn="ctr">
              <a:spcAft>
                <a:spcPts val="800"/>
              </a:spcAft>
              <a:defRPr b="1" sz="1100">
                <a:solidFill>
                  <a:srgbClr val="0F172A"/>
                </a:solidFill>
                <a:latin typeface="Arial"/>
              </a:defRPr>
            </a:pPr>
            <a:r>
              <a:t>Jain's Fairness Index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V4: 0.7682</a:t>
            </a:r>
          </a:p>
          <a:p>
            <a:pPr>
              <a:spcAft>
                <a:spcPts val="400"/>
              </a:spcAft>
              <a:defRPr b="1" sz="1400">
                <a:solidFill>
                  <a:srgbClr val="4F46E5"/>
                </a:solidFill>
                <a:latin typeface="Arial"/>
              </a:defRPr>
            </a:pPr>
            <a:r>
              <a:t>V5: 0.9288</a:t>
            </a:r>
          </a:p>
          <a:p>
            <a:pPr>
              <a:defRPr b="1" sz="1000">
                <a:solidFill>
                  <a:srgbClr val="4F46E5"/>
                </a:solidFill>
                <a:latin typeface="Arial"/>
              </a:defRPr>
            </a:pPr>
            <a:r>
              <a:t>Change: +0.1606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Significant balance gain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11480" lIns="274320" wrap="square"/>
          <a:lstStyle/>
          <a:p>
            <a:pPr algn="ctr">
              <a:spcAft>
                <a:spcPts val="6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• Why V4 Failed: PPO V4 was trained on 100% normal, balanced data. Since normal states penalize migrations, the model learned that doing nothing (No-Op) was always best. When tested on severe hotspots, it refused to migrate (0.0 migrations).</a:t>
            </a:r>
          </a:p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• How V5 Succeeded: We introduced a balanced 4-scenario sampler (25% Normal, 25% CPU Hotspot, 25% RAM Hotspot, 25% Mixed Overload). By seeing hotspots during training, PPO V5 learned to take targeted action (averaging 2.07 migrations per episode), outperforming baseline heuristics on unseen test scenarios (+154.93).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519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KEY TAKEAWAY: FIXING TRAINING DISTRIBUTION COLLAPSE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SAFETY LAYER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Deterministic Safety Gate: 8 Checks Before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8288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1. VM Running State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Confirms the VM exists and is currently in a running hypervisor state.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8288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2. Distinct Target Host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Ensures source and destination are two different physical servers (src != dest).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8288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3. Source Node Health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Checks that the source hypervisor daemon has active heartbeat and no alarms.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8288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4. Target Node Health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Ensures the destination server is online and reachable over the cluster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46304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8288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5. Target RAM Headroom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Target unallocated RAM must fit the VM plus a 20% safety buffer.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265176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8288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6. Target CPU Capacity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Projected CPU utilization on the target after migration must remain below 85%.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84048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8288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7. Storage &amp; Quorum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Verifies target datastore accessibility and cluster quorum consensus.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502920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8288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8. 60-Second Cooldown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Prevents migrating a VM that was relocated less than 60 seconds ago.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10728655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>
              <a:defRPr b="1" sz="950">
                <a:solidFill>
                  <a:srgbClr val="D97706"/>
                </a:solidFill>
                <a:latin typeface="Arial"/>
              </a:defRPr>
            </a:pPr>
            <a:r>
              <a:t>CORE PRINCIPLE: The safety gate operates under fail-closed logic. If any check fails, the migration is blocked immediately, regardless of what the AI model recommended.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HYPERVISOR INTEGRATION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Proxmox VE 9.x Provider Architecture &amp; Verification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/>
          </a:p>
          <a:p>
            <a:pPr>
              <a:defRPr b="1" sz="1050">
                <a:solidFill>
                  <a:srgbClr val="2563EB"/>
                </a:solidFill>
                <a:latin typeface="Arial"/>
              </a:defRPr>
            </a:pPr>
            <a:r>
              <a:t>REST API v2 (Port 8006)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Communicates with Proxmox VE 9.x over HTTPS using privilege-separated API tokens (vmotion-api@pve!automation -privsep 1).</a:t>
            </a:r>
          </a:p>
          <a:p>
            <a:pPr>
              <a:defRPr b="1" sz="1050">
                <a:solidFill>
                  <a:srgbClr val="2563EB"/>
                </a:solidFill>
                <a:latin typeface="Arial"/>
              </a:defRPr>
            </a:pPr>
            <a:r>
              <a:t>Least Privilege Roles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Audited minimum permissions: Sys.Audit, VM.Audit, VM.Migrate, VM.Allocate, Datastore.Audit, Datastore.AllocateSpace, VM.GuestAgent.Audit.</a:t>
            </a:r>
          </a:p>
          <a:p>
            <a:pPr>
              <a:defRPr b="1" sz="1050">
                <a:solidFill>
                  <a:srgbClr val="2563EB"/>
                </a:solidFill>
                <a:latin typeface="Arial"/>
              </a:defRPr>
            </a:pPr>
            <a:r>
              <a:t>Asynchronous Task UPID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Migration returns a UPID (Unique Process ID); VMotion AI polls the task every 1 second until complete.</a:t>
            </a:r>
          </a:p>
          <a:p>
            <a:pPr>
              <a:defRPr b="1" sz="1050">
                <a:solidFill>
                  <a:srgbClr val="2563EB"/>
                </a:solidFill>
                <a:latin typeface="Arial"/>
              </a:defRPr>
            </a:pPr>
            <a:r>
              <a:t>Guest Agent Health Check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After migration, queries the QEMU guest agent (GET .../agent/ping) to confirm the guest OS is responsive.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PROXMOX VE REST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/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• Proxmox API Client Code: </a:t>
            </a:r>
            <a:r>
              <a:rPr b="1">
                <a:solidFill>
                  <a:srgbClr val="10B981"/>
                </a:solidFill>
              </a:rPr>
              <a:t>[COMPLETE]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  Fully written in backend/app/providers/proxmox.py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• Token Auth &amp; Header Logic: </a:t>
            </a:r>
            <a:r>
              <a:rPr b="1">
                <a:solidFill>
                  <a:srgbClr val="10B981"/>
                </a:solidFill>
              </a:rPr>
              <a:t>[COMPLETE]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  Privilege separation &amp; secret masking implemented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• UPID Task Parsing &amp; Polling: </a:t>
            </a:r>
            <a:r>
              <a:rPr b="1">
                <a:solidFill>
                  <a:srgbClr val="10B981"/>
                </a:solidFill>
              </a:rPr>
              <a:t>[COMPLETE]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  Tested against simulated Proxmox responses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• Guest Agent Ping Endpoint: </a:t>
            </a:r>
            <a:r>
              <a:rPr b="1">
                <a:solidFill>
                  <a:srgbClr val="10B981"/>
                </a:solidFill>
              </a:rPr>
              <a:t>[COMPLETE]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  Real API operation implemented in provider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• Unit &amp; Mock Test Suite: </a:t>
            </a:r>
            <a:r>
              <a:rPr b="1">
                <a:solidFill>
                  <a:srgbClr val="10B981"/>
                </a:solidFill>
              </a:rPr>
              <a:t>[COMPLETE]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  Passes automated mock integration tests</a:t>
            </a:r>
          </a:p>
          <a:p>
            <a:pPr>
              <a:defRPr b="1" sz="950">
                <a:solidFill>
                  <a:srgbClr val="0F172A"/>
                </a:solidFill>
                <a:latin typeface="Arial"/>
              </a:defRPr>
            </a:pPr>
            <a:r>
              <a:t>• Physical Server Migration: </a:t>
            </a:r>
            <a:r>
              <a:rPr b="1">
                <a:solidFill>
                  <a:srgbClr val="D97706"/>
                </a:solidFill>
              </a:rPr>
              <a:t>[PENDING]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  Awaiting validation on physical lab hardware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CURRENT IMPLEMENTATION &amp; VERIFICATION STATUS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CONTROL PLANE UI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Real-Time 3D Cluster Monitoring &amp; Decision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pic>
        <p:nvPicPr>
          <p:cNvPr id="5" name="Picture 4" descr="01_hero_spatial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2931795"/>
          </a:xfrm>
          <a:prstGeom prst="rect">
            <a:avLst/>
          </a:prstGeom>
        </p:spPr>
      </p:pic>
      <p:pic>
        <p:nvPicPr>
          <p:cNvPr id="6" name="Picture 5" descr="02_ai_engine_decisio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463040"/>
            <a:ext cx="5212080" cy="29317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57200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0" lIns="182880" wrap="square"/>
          <a:lstStyle/>
          <a:p>
            <a:pPr algn="ctr">
              <a:defRPr sz="950">
                <a:solidFill>
                  <a:srgbClr val="334155"/>
                </a:solidFill>
                <a:latin typeface="Arial"/>
              </a:defRPr>
            </a:pPr>
            <a:r>
              <a:t>Displays interactive Three.js 3D cluster with host pedestals proportional to CPU load, orbiting VMs with SLA priority rings, and cluster-wide telemetry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3D CLUSTER OVERVIEW &amp; TELEMETRY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57200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0" lIns="182880" wrap="square"/>
          <a:lstStyle/>
          <a:p>
            <a:pPr algn="ctr">
              <a:defRPr sz="950">
                <a:solidFill>
                  <a:srgbClr val="334155"/>
                </a:solidFill>
                <a:latin typeface="Arial"/>
              </a:defRPr>
            </a:pPr>
            <a:r>
              <a:t>Shows current PPO policy recommendation, selection probability, frozen model artifact status (PPO V5), and 103-dimensional state vector breakdown.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0975" y="47091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AI DECISION PIPELINE &amp; SCHEMA EXPLORER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PROJECT COMPLETION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Implementation Progress &amp; Defensible Completion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>
              <a:defRPr b="1" sz="1050">
                <a:solidFill>
                  <a:srgbClr val="2563EB"/>
                </a:solidFill>
                <a:latin typeface="Arial"/>
              </a:defRPr>
            </a:pPr>
            <a:r>
              <a:t>SOFTWARE IMPLEMENTATION:</a:t>
            </a:r>
          </a:p>
          <a:p>
            <a:pPr>
              <a:spcAft>
                <a:spcPts val="600"/>
              </a:spcAft>
              <a:defRPr b="1" sz="3600">
                <a:solidFill>
                  <a:srgbClr val="10B981"/>
                </a:solidFill>
                <a:latin typeface="Arial"/>
              </a:defRPr>
            </a:pPr>
            <a:r>
              <a:t>91.5%</a:t>
            </a:r>
          </a:p>
          <a:p>
            <a:pPr>
              <a:spcAft>
                <a:spcPts val="1800"/>
              </a:spcAft>
              <a:defRPr sz="1000">
                <a:solidFill>
                  <a:srgbClr val="334155"/>
                </a:solidFill>
                <a:latin typeface="Arial"/>
              </a:defRPr>
            </a:pPr>
            <a:r>
              <a:t>All software components—FastAPI backend, 103-feature adapter, PPO V5 model, deterministic safety gate, 12-state FSM, 3D frontend, and 96 automated tests—are fully written and verified.</a:t>
            </a:r>
          </a:p>
          <a:p>
            <a:pPr>
              <a:defRPr b="1" sz="1050">
                <a:solidFill>
                  <a:srgbClr val="D97706"/>
                </a:solidFill>
                <a:latin typeface="Arial"/>
              </a:defRPr>
            </a:pPr>
            <a:r>
              <a:t>PHYSICAL HARDWARE VALIDATION:</a:t>
            </a:r>
          </a:p>
          <a:p>
            <a:pPr>
              <a:spcAft>
                <a:spcPts val="600"/>
              </a:spcAft>
              <a:defRPr b="1" sz="2400">
                <a:solidFill>
                  <a:srgbClr val="D97706"/>
                </a:solidFill>
                <a:latin typeface="Arial"/>
              </a:defRPr>
            </a:pPr>
            <a:r>
              <a:t>Pending Lab Test</a:t>
            </a:r>
          </a:p>
          <a:p>
            <a:pPr>
              <a:defRPr sz="1000">
                <a:solidFill>
                  <a:srgbClr val="334155"/>
                </a:solidFill>
                <a:latin typeface="Arial"/>
              </a:defRPr>
            </a:pPr>
            <a:r>
              <a:t>Proxmox REST API code and token authentication are implemented and mock-tested, but real physical live migration over external servers remains pending laboratory rack scheduling.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VERIFIED COMPLETION STATUS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48095" y="1463040"/>
          <a:ext cx="5212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097280"/>
                <a:gridCol w="164592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Architecture &amp; Interface Specs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Backend &amp; Control Plane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Telemetry &amp; 103-Dim Adapter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PPO / Reinforcement Learning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 (V5)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Safety Gate &amp; 12-State FSM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Hypervisor Provider Code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75% (Mock Tested)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Frontend Control Dashboard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Automated Tests &amp; Benchmarks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90% (96 Tests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Documentation &amp; Specifications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TESTING &amp; VALIDATION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Automated Regression Test Suite &amp; Build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11480" lIns="182880" wrap="square"/>
          <a:lstStyle/>
          <a:p>
            <a:pPr algn="ctr">
              <a:defRPr b="1" sz="1700">
                <a:solidFill>
                  <a:srgbClr val="10B981"/>
                </a:solidFill>
                <a:latin typeface="Arial"/>
              </a:defRPr>
            </a:pPr>
            <a:r>
              <a:t>96 Passed / 0 Failed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Runtime: 19.47s across 11 test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BACKEND TESTS (PYTEST)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463040"/>
            <a:ext cx="3429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11480" lIns="182880" wrap="square"/>
          <a:lstStyle/>
          <a:p>
            <a:pPr algn="ctr">
              <a:defRPr b="1" sz="1700">
                <a:solidFill>
                  <a:srgbClr val="2563EB"/>
                </a:solidFill>
                <a:latin typeface="Arial"/>
              </a:defRPr>
            </a:pPr>
            <a:r>
              <a:t>1,891 Modules Transformed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0 TypeScript errors • Clean bundle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856" y="16002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FRONTEND BUILD (VITE)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1463040"/>
            <a:ext cx="3429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11480" lIns="182880" wrap="square"/>
          <a:lstStyle/>
          <a:p>
            <a:pPr algn="ctr">
              <a:defRPr b="1" sz="1700">
                <a:solidFill>
                  <a:srgbClr val="4F46E5"/>
                </a:solidFill>
                <a:latin typeface="Arial"/>
              </a:defRPr>
            </a:pPr>
            <a:r>
              <a:t>600 Benchmark Episodes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Evaluated across 10 distinct cluster scenarios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16002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BENCHMARK HARNESS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107286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/>
          </a:p>
          <a:p>
            <a:pPr>
              <a:spcAft>
                <a:spcPts val="500"/>
              </a:spcAft>
              <a:defRPr b="1" sz="1000">
                <a:solidFill>
                  <a:srgbClr val="0F172A"/>
                </a:solidFill>
                <a:latin typeface="Arial"/>
              </a:defRPr>
            </a:pPr>
            <a:r>
              <a:t>• Safety Gate Tests (12 tests): </a:t>
            </a:r>
            <a:r>
              <a:rPr sz="950">
                <a:solidFill>
                  <a:srgbClr val="334155"/>
                </a:solidFill>
                <a:latin typeface="Arial"/>
              </a:rPr>
              <a:t>Verifies all 8 rules block on: identical hosts, offline servers, stopped VMs, high RAM, high CPU, and active cooldown.</a:t>
            </a:r>
          </a:p>
          <a:p>
            <a:pPr>
              <a:spcAft>
                <a:spcPts val="500"/>
              </a:spcAft>
              <a:defRPr b="1" sz="1000">
                <a:solidFill>
                  <a:srgbClr val="0F172A"/>
                </a:solidFill>
                <a:latin typeface="Arial"/>
              </a:defRPr>
            </a:pPr>
            <a:r>
              <a:t>• Migration Lifecycle Tests (10 tests): </a:t>
            </a:r>
            <a:r>
              <a:rPr sz="950">
                <a:solidFill>
                  <a:srgbClr val="334155"/>
                </a:solidFill>
                <a:latin typeface="Arial"/>
              </a:rPr>
              <a:t>Asserts valid FSM progression (RECOMMENDED -&gt; VERIFIED) and verifies illegal transitions raise InvalidStateTransitionError.</a:t>
            </a:r>
          </a:p>
          <a:p>
            <a:pPr>
              <a:spcAft>
                <a:spcPts val="500"/>
              </a:spcAft>
              <a:defRPr b="1" sz="1000">
                <a:solidFill>
                  <a:srgbClr val="0F172A"/>
                </a:solidFill>
                <a:latin typeface="Arial"/>
              </a:defRPr>
            </a:pPr>
            <a:r>
              <a:t>• Observation Spec Tests (8 tests): </a:t>
            </a:r>
            <a:r>
              <a:rPr sz="950">
                <a:solidFill>
                  <a:srgbClr val="334155"/>
                </a:solidFill>
                <a:latin typeface="Arial"/>
              </a:rPr>
              <a:t>Verifies exact 103 feature dimension, [-1.0, 1.0] mathematical bounds, and deterministic node/VM sorting order.</a:t>
            </a:r>
          </a:p>
          <a:p>
            <a:pPr>
              <a:spcAft>
                <a:spcPts val="500"/>
              </a:spcAft>
              <a:defRPr b="1" sz="1000">
                <a:solidFill>
                  <a:srgbClr val="0F172A"/>
                </a:solidFill>
                <a:latin typeface="Arial"/>
              </a:defRPr>
            </a:pPr>
            <a:r>
              <a:t>• Provider Contract Tests (10 tests): </a:t>
            </a:r>
            <a:r>
              <a:rPr sz="950">
                <a:solidFill>
                  <a:srgbClr val="334155"/>
                </a:solidFill>
                <a:latin typeface="Arial"/>
              </a:rPr>
              <a:t>Tests Simulation, Proxmox, and Libvirt providers for schema conformity, error handling, and truthful disconnection.</a:t>
            </a:r>
          </a:p>
          <a:p>
            <a:pPr>
              <a:spcAft>
                <a:spcPts val="500"/>
              </a:spcAft>
              <a:defRPr b="1" sz="1000">
                <a:solidFill>
                  <a:srgbClr val="0F172A"/>
                </a:solidFill>
                <a:latin typeface="Arial"/>
              </a:defRPr>
            </a:pPr>
            <a:r>
              <a:t>• API &amp; Security Tests (14 tests): </a:t>
            </a:r>
            <a:r>
              <a:rPr sz="950">
                <a:solidFill>
                  <a:srgbClr val="334155"/>
                </a:solidFill>
                <a:latin typeface="Arial"/>
              </a:rPr>
              <a:t>Verifies FastAPI endpoints, token secret masking in /api/cluster/config, and live mode confirmation headers.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AUTOMATED TEST COVERAGE BY SUBSYSTEM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PROJECT ACHIEVEMENTS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What Has Been Accomplished in VMotion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Proved that reinforcement learning can be safely used for cluster rebalancing by placing a deterministic, fail-closed safety gate between the AI and hypervisors.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1. DECOUPLED AI &amp; SAFETY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Diagnosed why single-scenario training caused the model to collapse to zero migrations, and resolved it with balanced multi-scenario sampling (+319.29 reward gain).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2. OVERCOMING POLICY COLLAPSE (PPO V5)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Built a stateful migration workflow that tracks Proxmox task UPIDs and verifies destination residency and QEMU guest health before marking a task complete.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3. COMPLETE 12-STATE FSM LIFECYCLE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393192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28600" wrap="square"/>
          <a:lstStyle/>
          <a:p>
            <a:pPr algn="ctr">
              <a:lnSpc>
                <a:spcPct val="120000"/>
              </a:lnSpc>
              <a:defRPr sz="1000">
                <a:solidFill>
                  <a:srgbClr val="334155"/>
                </a:solidFill>
                <a:latin typeface="Arial"/>
              </a:defRPr>
            </a:pPr>
            <a:r>
              <a:t>Developed an interactive React 19 control plane with Three.js 3D cluster visualization, real-time WebSocket telemetry, and append-only audit logging.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0975" y="40690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4. MODERN 3D WEB DASHBOARD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CURRENT SCOPE &amp; BOUNDARIES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What Is Validated in Simulation vs. Pending Real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/>
          </a:p>
          <a:p>
            <a:pPr>
              <a:spcAft>
                <a:spcPts val="600"/>
              </a:spcAft>
              <a:defRPr b="1" sz="1000">
                <a:solidFill>
                  <a:srgbClr val="10B981"/>
                </a:solidFill>
                <a:latin typeface="Arial"/>
              </a:defRPr>
            </a:pPr>
            <a:r>
              <a:t>✔ 103-Feature Telemetry Adapter: </a:t>
            </a:r>
            <a:r>
              <a:rPr sz="900">
                <a:solidFill>
                  <a:srgbClr val="334155"/>
                </a:solidFill>
                <a:latin typeface="Arial"/>
              </a:rPr>
              <a:t>Continuous normalized vector extraction validated against mathematical bounds.</a:t>
            </a:r>
          </a:p>
          <a:p>
            <a:pPr>
              <a:spcAft>
                <a:spcPts val="600"/>
              </a:spcAft>
              <a:defRPr b="1" sz="1000">
                <a:solidFill>
                  <a:srgbClr val="10B981"/>
                </a:solidFill>
                <a:latin typeface="Arial"/>
              </a:defRPr>
            </a:pPr>
            <a:r>
              <a:t>✔ PPO V5 Decision Model: </a:t>
            </a:r>
            <a:r>
              <a:rPr sz="900">
                <a:solidFill>
                  <a:srgbClr val="334155"/>
                </a:solidFill>
                <a:latin typeface="Arial"/>
              </a:rPr>
              <a:t>Trained model evaluated across 600 benchmark episodes with verified SHA-256 hash.</a:t>
            </a:r>
          </a:p>
          <a:p>
            <a:pPr>
              <a:spcAft>
                <a:spcPts val="600"/>
              </a:spcAft>
              <a:defRPr b="1" sz="1000">
                <a:solidFill>
                  <a:srgbClr val="10B981"/>
                </a:solidFill>
                <a:latin typeface="Arial"/>
              </a:defRPr>
            </a:pPr>
            <a:r>
              <a:t>✔ 8-Rule Deterministic Safety Gate: </a:t>
            </a:r>
            <a:r>
              <a:rPr sz="900">
                <a:solidFill>
                  <a:srgbClr val="334155"/>
                </a:solidFill>
                <a:latin typeface="Arial"/>
              </a:rPr>
              <a:t>Independently verified to block invalid CPU, RAM, quorum, and cooldown states.</a:t>
            </a:r>
          </a:p>
          <a:p>
            <a:pPr>
              <a:spcAft>
                <a:spcPts val="600"/>
              </a:spcAft>
              <a:defRPr b="1" sz="1000">
                <a:solidFill>
                  <a:srgbClr val="10B981"/>
                </a:solidFill>
                <a:latin typeface="Arial"/>
              </a:defRPr>
            </a:pPr>
            <a:r>
              <a:t>✔ 12-State Migration FSM: </a:t>
            </a:r>
            <a:r>
              <a:rPr sz="900">
                <a:solidFill>
                  <a:srgbClr val="334155"/>
                </a:solidFill>
                <a:latin typeface="Arial"/>
              </a:rPr>
              <a:t>State machine progression and illegal transition errors verified across 96 tests.</a:t>
            </a:r>
          </a:p>
          <a:p>
            <a:pPr>
              <a:spcAft>
                <a:spcPts val="600"/>
              </a:spcAft>
              <a:defRPr b="1" sz="1000">
                <a:solidFill>
                  <a:srgbClr val="10B981"/>
                </a:solidFill>
                <a:latin typeface="Arial"/>
              </a:defRPr>
            </a:pPr>
            <a:r>
              <a:t>✔ React 19 &amp; Three.js Web UI: </a:t>
            </a:r>
            <a:r>
              <a:rPr sz="900">
                <a:solidFill>
                  <a:srgbClr val="334155"/>
                </a:solidFill>
                <a:latin typeface="Arial"/>
              </a:rPr>
              <a:t>Production frontend build passes with zero TypeScript or linting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VALIDATED IN SOFTWARE &amp;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/>
          </a:p>
          <a:p>
            <a:pPr>
              <a:spcAft>
                <a:spcPts val="600"/>
              </a:spcAft>
              <a:defRPr b="1" sz="1000">
                <a:solidFill>
                  <a:srgbClr val="D97706"/>
                </a:solidFill>
                <a:latin typeface="Arial"/>
              </a:defRPr>
            </a:pPr>
            <a:r>
              <a:t>⏳ Physical Proxmox Lab Rack: </a:t>
            </a:r>
            <a:r>
              <a:rPr sz="900">
                <a:solidFill>
                  <a:srgbClr val="334155"/>
                </a:solidFill>
                <a:latin typeface="Arial"/>
              </a:rPr>
              <a:t>Connecting to real physical servers in the college laboratory is pending hardware scheduling.</a:t>
            </a:r>
          </a:p>
          <a:p>
            <a:pPr>
              <a:spcAft>
                <a:spcPts val="600"/>
              </a:spcAft>
              <a:defRPr b="1" sz="1000">
                <a:solidFill>
                  <a:srgbClr val="D97706"/>
                </a:solidFill>
                <a:latin typeface="Arial"/>
              </a:defRPr>
            </a:pPr>
            <a:r>
              <a:t>⏳ Live VM Memory Benchmarking: </a:t>
            </a:r>
            <a:r>
              <a:rPr sz="900">
                <a:solidFill>
                  <a:srgbClr val="334155"/>
                </a:solidFill>
                <a:latin typeface="Arial"/>
              </a:rPr>
              <a:t>Measuring dirty-page rate vs. actual 10 GbE network transfer speed on real hardware.</a:t>
            </a:r>
          </a:p>
          <a:p>
            <a:pPr>
              <a:spcAft>
                <a:spcPts val="600"/>
              </a:spcAft>
              <a:defRPr b="1" sz="1000">
                <a:solidFill>
                  <a:srgbClr val="D97706"/>
                </a:solidFill>
                <a:latin typeface="Arial"/>
              </a:defRPr>
            </a:pPr>
            <a:r>
              <a:t>⏳ Two-Node Quorum in Lab: </a:t>
            </a:r>
            <a:r>
              <a:rPr sz="900">
                <a:solidFill>
                  <a:srgbClr val="334155"/>
                </a:solidFill>
                <a:latin typeface="Arial"/>
              </a:rPr>
              <a:t>A 2-node cluster requires deploying an external QDevice (corosync-qnetd) to avoid quorum loss.</a:t>
            </a:r>
          </a:p>
          <a:p>
            <a:pPr>
              <a:spcAft>
                <a:spcPts val="600"/>
              </a:spcAft>
              <a:defRPr b="1" sz="1000">
                <a:solidFill>
                  <a:srgbClr val="D97706"/>
                </a:solidFill>
                <a:latin typeface="Arial"/>
              </a:defRPr>
            </a:pPr>
            <a:r>
              <a:t>⏳ Fixed Discrete Action Space: </a:t>
            </a:r>
            <a:r>
              <a:rPr sz="900">
                <a:solidFill>
                  <a:srgbClr val="334155"/>
                </a:solidFill>
                <a:latin typeface="Arial"/>
              </a:rPr>
              <a:t>Currently dimensioned for 3 nodes and 6 VMs; larger clusters will require Graph Neural Networks.</a:t>
            </a:r>
          </a:p>
          <a:p>
            <a:pPr>
              <a:spcAft>
                <a:spcPts val="600"/>
              </a:spcAft>
              <a:defRPr b="1" sz="1000">
                <a:solidFill>
                  <a:srgbClr val="D97706"/>
                </a:solidFill>
                <a:latin typeface="Arial"/>
              </a:defRPr>
            </a:pPr>
            <a:r>
              <a:t>⏳ Windows Libvirt Dependency: </a:t>
            </a:r>
            <a:r>
              <a:rPr sz="900">
                <a:solidFill>
                  <a:srgbClr val="334155"/>
                </a:solidFill>
                <a:latin typeface="Arial"/>
              </a:rPr>
              <a:t>Native Libvirt C-bindings are missing on Windows; designated for future Linux agent deployment.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PENDING PHYSICAL HARDWARE VALIDATION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9144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CONCLUSION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Summary of Work Done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VMotion AI | DA1 Evaluation | VIT Chennai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2563EB"/>
                </a:solidFill>
                <a:latin typeface="Arial"/>
              </a:defRPr>
            </a:pPr>
            <a:r>
              <a:t>WHAT VMOTION AI DOES:</a:t>
            </a:r>
          </a:p>
          <a:p>
            <a:pPr>
              <a:spcAft>
                <a:spcPts val="1600"/>
              </a:spcAft>
              <a:defRPr sz="1200" i="1">
                <a:solidFill>
                  <a:srgbClr val="0F172A"/>
                </a:solidFill>
                <a:latin typeface="Arial"/>
              </a:defRPr>
            </a:pPr>
            <a:r>
              <a:t>"VMotion AI combines reinforcement learning (PPO), a deterministic safety gate, and hypervisor APIs to make intelligent VM migration decisions without risking infrastructure stability."</a:t>
            </a:r>
          </a:p>
          <a:p>
            <a:pPr>
              <a:spcAft>
                <a:spcPts val="400"/>
              </a:spcAft>
              <a:defRPr b="1" sz="1050">
                <a:solidFill>
                  <a:srgbClr val="0F172A"/>
                </a:solidFill>
                <a:latin typeface="Arial"/>
              </a:defRPr>
            </a:pPr>
            <a:r>
              <a:t>Key Verified Results: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PPO V5 model achieved +154.93 on unseen test scenarios.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Server overload time reduced by 87.8% compared to V4.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8 deterministic safety rules prevent illegal migrations.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96 automated backend tests passing with zero failures.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91.5% software implementation completion.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PROJECT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457200" lIns="274320" wrap="square"/>
          <a:lstStyle/>
          <a:p>
            <a:pPr algn="ctr">
              <a:spcAft>
                <a:spcPts val="600"/>
              </a:spcAft>
              <a:defRPr b="1" sz="1100">
                <a:solidFill>
                  <a:srgbClr val="4F46E5"/>
                </a:solidFill>
                <a:latin typeface="Arial"/>
              </a:defRPr>
            </a:pPr>
            <a:r>
              <a:t>NEXT DEVELOPMENT STEPS:</a:t>
            </a:r>
          </a:p>
          <a:p>
            <a:pPr>
              <a:defRPr b="1" sz="1000">
                <a:solidFill>
                  <a:srgbClr val="0F172A"/>
                </a:solidFill>
                <a:latin typeface="Arial"/>
              </a:defRPr>
            </a:pPr>
            <a:r>
              <a:t>1. Lab Server Deployment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Connect to physical Proxmox VE 9.2 server nodes in the VIT Chennai networking lab.</a:t>
            </a:r>
          </a:p>
          <a:p>
            <a:pPr>
              <a:defRPr b="1" sz="1000">
                <a:solidFill>
                  <a:srgbClr val="0F172A"/>
                </a:solidFill>
                <a:latin typeface="Arial"/>
              </a:defRPr>
            </a:pPr>
            <a:r>
              <a:t>2. Deploy Corosync QDevice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Add an external Raspberry Pi or VM running corosync-qnetd for quorum resilience in 2-node setups.</a:t>
            </a:r>
          </a:p>
          <a:p>
            <a:pPr>
              <a:defRPr b="1" sz="1000">
                <a:solidFill>
                  <a:srgbClr val="0F172A"/>
                </a:solidFill>
                <a:latin typeface="Arial"/>
              </a:defRPr>
            </a:pPr>
            <a:r>
              <a:t>3. GNN Policy Exploration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Investigate Graph Neural Networks to support clusters of arbitrary size (10+ nodes).</a:t>
            </a:r>
          </a:p>
          <a:p>
            <a:pPr>
              <a:defRPr b="1" sz="1000">
                <a:solidFill>
                  <a:srgbClr val="0F172A"/>
                </a:solidFill>
                <a:latin typeface="Arial"/>
              </a:defRPr>
            </a:pPr>
            <a:r>
              <a:t>4. Time-Series Predictive Pre-empting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Use lightweight forecasting (e.g. ARIMA) to trigger migrations 2 minutes before contention peaks.</a:t>
            </a:r>
          </a:p>
          <a:p>
            <a:br/>
            <a:pPr>
              <a:defRPr b="1" sz="1200">
                <a:solidFill>
                  <a:srgbClr val="2563EB"/>
                </a:solidFill>
                <a:latin typeface="Arial"/>
              </a:defRPr>
            </a:pPr>
            <a:r>
              <a:t>Thank You! Questions &amp; Discussion Welcome.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0975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NEXT MILESTONES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