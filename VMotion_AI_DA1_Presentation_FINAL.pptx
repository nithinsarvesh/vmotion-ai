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999713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731520"/>
          <a:lstStyle/>
          <a:p>
            <a:pPr algn="ctr">
              <a:spcAft>
                <a:spcPts val="10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B.TECH CAPSTONE EVALUATION • DIGITAL ASSIGNMENT 1 (DA1)</a:t>
            </a:r>
          </a:p>
          <a:p>
            <a:pPr>
              <a:spcAft>
                <a:spcPts val="800"/>
              </a:spcAft>
              <a:defRPr sz="4000" b="1">
                <a:solidFill>
                  <a:srgbClr val="0F172A"/>
                </a:solidFill>
                <a:latin typeface="Arial"/>
              </a:defRPr>
            </a:pPr>
            <a:r>
              <a:t>VMotion AI</a:t>
            </a:r>
          </a:p>
          <a:p>
            <a:pPr>
              <a:spcAft>
                <a:spcPts val="36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AI-Powered Live VM Migration Control Plane using Oracle VirtualBox Teleportation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474720"/>
            <a:ext cx="8534095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spcAft>
                <a:spcPts val="4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Nithin Sarvesh M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B.Tech Computer Science and Engineering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School of Computer Science and Engineering (SCOPE)</a:t>
            </a:r>
          </a:p>
          <a:p>
            <a:pPr>
              <a:defRPr sz="1100" b="1">
                <a:solidFill>
                  <a:srgbClr val="334155"/>
                </a:solidFill>
                <a:latin typeface="Arial"/>
              </a:defRPr>
            </a:pPr>
            <a:r>
              <a:t>Vellore Institute of Technology (VIT), Chennai, Tamil Nadu,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PROBLEM OVERVIEW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Why Traditional VM Migration Needs an Intelligent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VMotion AI | DA1 Evaluation | VIT Chennai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74320" wrap="square"/>
          <a:lstStyle/>
          <a:p>
            <a:pPr algn="ctr">
              <a:defRPr b="1" sz="1100">
                <a:solidFill>
                  <a:srgbClr val="2563EB"/>
                </a:solidFill>
                <a:latin typeface="Arial"/>
              </a:defRPr>
            </a:pPr>
            <a:r>
              <a:t>1. Dynamic Workload Bursts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User traffic spikes unpredictably on cloud virtualization servers.</a:t>
            </a:r>
          </a:p>
          <a:p>
            <a:pPr>
              <a:defRPr b="1" sz="1100">
                <a:solidFill>
                  <a:srgbClr val="2563EB"/>
                </a:solidFill>
                <a:latin typeface="Arial"/>
              </a:defRPr>
            </a:pPr>
            <a:r>
              <a:t>2. Resource Hotspots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One server hits 90%+ CPU while neighboring servers stay underutilized.</a:t>
            </a:r>
          </a:p>
          <a:p>
            <a:pPr>
              <a:defRPr b="1" sz="1100">
                <a:solidFill>
                  <a:srgbClr val="2563EB"/>
                </a:solidFill>
                <a:latin typeface="Arial"/>
              </a:defRPr>
            </a:pPr>
            <a:r>
              <a:t>3. SLA Degradation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Customer applications experience latency spikes and slow responses.</a:t>
            </a:r>
          </a:p>
          <a:p>
            <a:pPr>
              <a:defRPr b="1" sz="1100">
                <a:solidFill>
                  <a:srgbClr val="2563EB"/>
                </a:solidFill>
                <a:latin typeface="Arial"/>
              </a:defRPr>
            </a:pPr>
            <a:r>
              <a:t>4. Flapping &amp; Thrashing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Static rules (e.g. CPU &gt; 80%) trigger migrations back and forth repeatedly.</a:t>
            </a:r>
          </a:p>
          <a:p>
            <a:pPr>
              <a:defRPr b="1" sz="1100">
                <a:solidFill>
                  <a:srgbClr val="2563EB"/>
                </a:solidFill>
                <a:latin typeface="Arial"/>
              </a:defRPr>
            </a:pPr>
            <a:r>
              <a:t>5. Operator Bottleneck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Manual intervention takes minutes; by then, performance has already dropped.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CORE INFRASTRUCTURE DILEMMA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6655" y="146304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74320" wrap="square"/>
          <a:lstStyle/>
          <a:p>
            <a:pPr algn="ctr">
              <a:spcAft>
                <a:spcPts val="600"/>
              </a:spcAft>
              <a:defRPr b="1" sz="1100">
                <a:solidFill>
                  <a:srgbClr val="2563EB"/>
                </a:solidFill>
                <a:latin typeface="Arial"/>
              </a:defRPr>
            </a:pPr>
            <a:r>
              <a:t>PROBLEM STATEMENT:</a:t>
            </a:r>
          </a:p>
          <a:p>
            <a:pPr>
              <a:spcAft>
                <a:spcPts val="1600"/>
              </a:spcAft>
              <a:defRPr sz="1250" i="1">
                <a:solidFill>
                  <a:srgbClr val="0F172A"/>
                </a:solidFill>
                <a:latin typeface="Arial"/>
              </a:defRPr>
            </a:pPr>
            <a:r>
              <a:t>"How can we automatically rebalance running virtual machines across physical hosts using reinforcement learning, while guaranteeing deterministic safety and executing live memory teleportation between computers?"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  <a:latin typeface="Arial"/>
              </a:defRPr>
            </a:pPr>
            <a:r>
              <a:t>Key Challenges We Address: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Multi-metric trade-offs: balancing CPU, RAM, network, and migration cost simultaneously.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Preventing AI mistakes: pure RL models can pick overloaded targets without deterministic gates.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Migration cost awareness: each migration consumes network bandwidth and hypervisor CPU.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Real live teleportation: streaming live VM RAM across physical LAN without disk copying delays.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9535" y="16002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PROBLEM STATEMENT &amp;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MOTIVATION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Why Intelligent Migration Matters in Cloud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VMotion AI | DA1 Evaluation | VIT Chennai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28600" wrap="square"/>
          <a:lstStyle/>
          <a:p>
            <a:pPr algn="ctr">
              <a:lnSpc>
                <a:spcPct val="120000"/>
              </a:lnSpc>
              <a:defRPr sz="1050">
                <a:solidFill>
                  <a:srgbClr val="334155"/>
                </a:solidFill>
                <a:latin typeface="Arial"/>
              </a:defRPr>
            </a:pPr>
            <a:r>
              <a:t>Virtual machine loads fluctuate dynamically throughout the day. Static threshold rules cannot look ahead or account for how workloads interact on the same physical host.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1. DYNAMIC WORKLOAD DEMANDS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28600" wrap="square"/>
          <a:lstStyle/>
          <a:p>
            <a:pPr algn="ctr">
              <a:lnSpc>
                <a:spcPct val="120000"/>
              </a:lnSpc>
              <a:defRPr sz="1050">
                <a:solidFill>
                  <a:srgbClr val="334155"/>
                </a:solidFill>
                <a:latin typeface="Arial"/>
              </a:defRPr>
            </a:pPr>
            <a:r>
              <a:t>Live migration allows moving a running VM with sub-second downtime. Doing this intelligently balances cluster load, improves fairness, and avoids server throttling.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16002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2. SMARTER RESOURCE BALANCING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28600" wrap="square"/>
          <a:lstStyle/>
          <a:p>
            <a:pPr algn="ctr">
              <a:lnSpc>
                <a:spcPct val="120000"/>
              </a:lnSpc>
              <a:defRPr sz="1050">
                <a:solidFill>
                  <a:srgbClr val="334155"/>
                </a:solidFill>
                <a:latin typeface="Arial"/>
              </a:defRPr>
            </a:pPr>
            <a:r>
              <a:t>Moving a VM is not free. It consumes interconnect bandwidth and hypervisor memory cycles. An intelligent agent learns to migrate only when the benefit outweighs the transient cost.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3. ACCOUNTING FOR MIGRATION COSTS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93192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28600" wrap="square"/>
          <a:lstStyle/>
          <a:p>
            <a:pPr algn="ctr">
              <a:lnSpc>
                <a:spcPct val="120000"/>
              </a:lnSpc>
              <a:defRPr sz="1050">
                <a:solidFill>
                  <a:srgbClr val="334155"/>
                </a:solidFill>
                <a:latin typeface="Arial"/>
              </a:defRPr>
            </a:pPr>
            <a:r>
              <a:t>A reinforcement learning model is a statistical decision-maker. We should never let an AI directly run hypervisor commands without a deterministic safety gate verifying capacity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0975" y="4069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4. WHY A SAFETY LAYER IS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PROJECT SCOPE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What VMotion AI Was Built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VMotion AI | DA1 Evaluation | VIT Chennai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28600" wrap="square"/>
          <a:lstStyle/>
          <a:p>
            <a:pPr algn="ctr">
              <a:lnSpc>
                <a:spcPct val="120000"/>
              </a:lnSpc>
              <a:defRPr sz="1050">
                <a:solidFill>
                  <a:srgbClr val="334155"/>
                </a:solidFill>
                <a:latin typeface="Arial"/>
              </a:defRPr>
            </a:pPr>
            <a:r>
              <a:t>Collect host and VM metrics (CPU, RAM, Network, Disk) via native host agents and convert them into a normalized 103-dimensional state vector.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1. REAL-TIME TELEMETRY &amp; STATE ENCODING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28600" wrap="square"/>
          <a:lstStyle/>
          <a:p>
            <a:pPr algn="ctr">
              <a:lnSpc>
                <a:spcPct val="120000"/>
              </a:lnSpc>
              <a:defRPr sz="1050">
                <a:solidFill>
                  <a:srgbClr val="334155"/>
                </a:solidFill>
                <a:latin typeface="Arial"/>
              </a:defRPr>
            </a:pPr>
            <a:r>
              <a:t>Deploy a frozen MaskablePPO agent on a Discrete(7) action space with cooldown action masking to identify optimal migration candidates.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16002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2. REINFORCEMENT LEARNING WITH PPO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28600" wrap="square"/>
          <a:lstStyle/>
          <a:p>
            <a:pPr algn="ctr">
              <a:lnSpc>
                <a:spcPct val="120000"/>
              </a:lnSpc>
              <a:defRPr sz="1050">
                <a:solidFill>
                  <a:srgbClr val="334155"/>
                </a:solidFill>
                <a:latin typeface="Arial"/>
              </a:defRPr>
            </a:pPr>
            <a:r>
              <a:t>Build a fail-closed software layer with 16 strict checks and typed error codes (VBX_*) that independently verifies capacity, storage, and compatibility.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3. DETERMINISTIC SAFETY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93192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28600" wrap="square"/>
          <a:lstStyle/>
          <a:p>
            <a:pPr algn="ctr">
              <a:lnSpc>
                <a:spcPct val="120000"/>
              </a:lnSpc>
              <a:defRPr sz="1050">
                <a:solidFill>
                  <a:srgbClr val="334155"/>
                </a:solidFill>
                <a:latin typeface="Arial"/>
              </a:defRPr>
            </a:pPr>
            <a:r>
              <a:t>Orchestrate real live VM teleportation across physical computers running Oracle VirtualBox via native VBoxManage and shared storage.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0975" y="4069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4. REAL VIRTUALBOX LIVE TELEPORTATION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COMPARISON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Existing Migration Approaches vs. VMotion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VMotion AI | DA1 Evaluation | VIT Chennai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97680"/>
                <a:gridCol w="4327855"/>
              </a:tblGrid>
              <a:tr h="7772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Evaluation Aspect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Traditional Threshold / Heuristic Approach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VMotion AI Approach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Decision Strategy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Static rule triggers (e.g., if CPU &gt; 80% then migrate). Reactive only.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Reinforcement Learning (PPO) optimizes for overall cluster balance over time.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Cluster Awareness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Looks at single-server metrics; misses cluster-wide load skew.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103-feature state vector tracks all nodes, VMs, and cluster fairness.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Flapping Prevention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Crude delays; VMs often migrate back and forth during load spikes.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60-second cooldown dynamically enforced via invalid action masking.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Safety &amp; Reliability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Rules execute directly on servers; no independent verification step.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Separate fail-closed safety gate (16 checks, VBX_* codes) verifies target first.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Live Demonstration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Abstract simulations or non-reproducible cloud scripts.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Real Oracle VirtualBox live teleportation between two physical computers.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SYSTEM DESIGN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Decoupled Multi-Tier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VMotion AI | DA1 Evaluation | VIT Chennai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274320" wrap="square"/>
          <a:lstStyle/>
          <a:p>
            <a:pPr algn="ctr">
              <a:defRPr b="1" sz="1000">
                <a:solidFill>
                  <a:srgbClr val="2563EB"/>
                </a:solidFill>
                <a:latin typeface="Arial"/>
              </a:defRPr>
            </a:pPr>
            <a:r>
              <a:t>TIER 1: PHYSICAL HYPERVISOR &amp; HOST AGENT LAYER</a:t>
            </a:r>
          </a:p>
          <a:p>
            <a:pPr>
              <a:defRPr b="1" sz="1100">
                <a:solidFill>
                  <a:srgbClr val="0F172A"/>
                </a:solidFill>
                <a:latin typeface="Arial"/>
              </a:defRPr>
            </a:pPr>
            <a:r>
              <a:t>Oracle VirtualBox 7.x Hosts (Host A &amp; Host B) + Standalone Host Agents (FastAPI + psutil)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Collects real hardware telemetry and drives VBoxManage live teleportation over LAN port 60050.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33472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274320" wrap="square"/>
          <a:lstStyle/>
          <a:p>
            <a:pPr algn="ctr">
              <a:defRPr b="1" sz="1000">
                <a:solidFill>
                  <a:srgbClr val="4F46E5"/>
                </a:solidFill>
                <a:latin typeface="Arial"/>
              </a:defRPr>
            </a:pPr>
            <a:r>
              <a:t>TIER 2: TELEMETRY &amp; 103-FEATURE OBSERVATION ADAPTER</a:t>
            </a:r>
          </a:p>
          <a:p>
            <a:pPr>
              <a:defRPr b="1" sz="1100">
                <a:solidFill>
                  <a:srgbClr val="0F172A"/>
                </a:solidFill>
                <a:latin typeface="Arial"/>
              </a:defRPr>
            </a:pPr>
            <a:r>
              <a:t>Feature Extractor, Rolling Telemetry Buffer, Jain's Fairness Calculator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Converts raw cluster metrics into a normalized 103-dimensional state vector every 2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03904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274320" wrap="square"/>
          <a:lstStyle/>
          <a:p>
            <a:pPr algn="ctr">
              <a:defRPr b="1" sz="1000">
                <a:solidFill>
                  <a:srgbClr val="D97706"/>
                </a:solidFill>
                <a:latin typeface="Arial"/>
              </a:defRPr>
            </a:pPr>
            <a:r>
              <a:t>TIER 3: REINFORCEMENT LEARNING DECISION ENGINE</a:t>
            </a:r>
          </a:p>
          <a:p>
            <a:pPr>
              <a:defRPr b="1" sz="1100">
                <a:solidFill>
                  <a:srgbClr val="0F172A"/>
                </a:solidFill>
                <a:latin typeface="Arial"/>
              </a:defRPr>
            </a:pPr>
            <a:r>
              <a:t>MaskablePPO Model (PPO V5 Frozen) + Action Masking + Destination Resolver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Evaluates cluster state, selects which VM to relocate, and resolves the best target node based on headroom.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74336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274320" wrap="square"/>
          <a:lstStyle/>
          <a:p>
            <a:pPr algn="ctr">
              <a:defRPr b="1" sz="1000">
                <a:solidFill>
                  <a:srgbClr val="10B981"/>
                </a:solidFill>
                <a:latin typeface="Arial"/>
              </a:defRPr>
            </a:pPr>
            <a:r>
              <a:t>TIER 4: SAFETY GATE, OPERATOR APPROVAL &amp; TELEPORTATION FSM</a:t>
            </a:r>
          </a:p>
          <a:p>
            <a:pPr>
              <a:defRPr b="1" sz="1100">
                <a:solidFill>
                  <a:srgbClr val="0F172A"/>
                </a:solidFill>
                <a:latin typeface="Arial"/>
              </a:defRPr>
            </a:pPr>
            <a:r>
              <a:t>Deterministic Safety Gate (16 checks, VBX_* codes), Operator Approval, FSM Orchestrator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Independently audits safety, requires operator signoff, pre-warms target teleporter, and verifies guest health.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WORKFLOW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End-to-End Migration Lifecycle (Step by Step)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VMotion AI | DA1 Evaluation | VIT Chennai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 rIns="182880" wrap="square"/>
          <a:lstStyle/>
          <a:p>
            <a:pPr algn="ctr">
              <a:spcAft>
                <a:spcPts val="600"/>
              </a:spcAft>
              <a:defRPr b="1" sz="1100">
                <a:solidFill>
                  <a:srgbClr val="2563EB"/>
                </a:solidFill>
                <a:latin typeface="Arial"/>
              </a:defRPr>
            </a:pPr>
            <a:r>
              <a:t>Step 1: Collect Host Telemetry</a:t>
            </a:r>
          </a:p>
          <a:p>
            <a:pPr>
              <a:lnSpc>
                <a:spcPct val="120000"/>
              </a:lnSpc>
              <a:defRPr sz="1000">
                <a:solidFill>
                  <a:srgbClr val="334155"/>
                </a:solidFill>
                <a:latin typeface="Arial"/>
              </a:defRPr>
            </a:pPr>
            <a:r>
              <a:t>Query physical host agents every 2s for CPU, RAM, Disk, and running VM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46304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 rIns="182880" wrap="square"/>
          <a:lstStyle/>
          <a:p>
            <a:pPr algn="ctr">
              <a:spcAft>
                <a:spcPts val="600"/>
              </a:spcAft>
              <a:defRPr b="1" sz="1100">
                <a:solidFill>
                  <a:srgbClr val="2563EB"/>
                </a:solidFill>
                <a:latin typeface="Arial"/>
              </a:defRPr>
            </a:pPr>
            <a:r>
              <a:t>Step 2: Build 103-Dim State</a:t>
            </a:r>
          </a:p>
          <a:p>
            <a:pPr>
              <a:lnSpc>
                <a:spcPct val="120000"/>
              </a:lnSpc>
              <a:defRPr sz="1000">
                <a:solidFill>
                  <a:srgbClr val="334155"/>
                </a:solidFill>
                <a:latin typeface="Arial"/>
              </a:defRPr>
            </a:pPr>
            <a:r>
              <a:t>Normalize raw telemetry into a unified feature vector bounded between -1.0 and 1.0.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6304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 rIns="182880" wrap="square"/>
          <a:lstStyle/>
          <a:p>
            <a:pPr algn="ctr">
              <a:spcAft>
                <a:spcPts val="600"/>
              </a:spcAft>
              <a:defRPr b="1" sz="1100">
                <a:solidFill>
                  <a:srgbClr val="4F46E5"/>
                </a:solidFill>
                <a:latin typeface="Arial"/>
              </a:defRPr>
            </a:pPr>
            <a:r>
              <a:t>Step 3: Mask Invalid Actions</a:t>
            </a:r>
          </a:p>
          <a:p>
            <a:pPr>
              <a:lnSpc>
                <a:spcPct val="120000"/>
              </a:lnSpc>
              <a:defRPr sz="1000">
                <a:solidFill>
                  <a:srgbClr val="334155"/>
                </a:solidFill>
                <a:latin typeface="Arial"/>
              </a:defRPr>
            </a:pPr>
            <a:r>
              <a:t>Disable any VM currently in a 60s cooldown or stopped from being selected.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33688" y="146304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 rIns="182880" wrap="square"/>
          <a:lstStyle/>
          <a:p>
            <a:pPr algn="ctr">
              <a:spcAft>
                <a:spcPts val="600"/>
              </a:spcAft>
              <a:defRPr b="1" sz="1100">
                <a:solidFill>
                  <a:srgbClr val="4F46E5"/>
                </a:solidFill>
                <a:latin typeface="Arial"/>
              </a:defRPr>
            </a:pPr>
            <a:r>
              <a:t>Step 4: PPO Policy Evaluation</a:t>
            </a:r>
          </a:p>
          <a:p>
            <a:pPr>
              <a:lnSpc>
                <a:spcPct val="120000"/>
              </a:lnSpc>
              <a:defRPr sz="1000">
                <a:solidFill>
                  <a:srgbClr val="334155"/>
                </a:solidFill>
                <a:latin typeface="Arial"/>
              </a:defRPr>
            </a:pPr>
            <a:r>
              <a:t>The frozen PPO V5 model evaluates the state vector and recommends the best VM to migrate.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77056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 rIns="182880" wrap="square"/>
          <a:lstStyle/>
          <a:p>
            <a:pPr algn="ctr">
              <a:spcAft>
                <a:spcPts val="600"/>
              </a:spcAft>
              <a:defRPr b="1" sz="1100">
                <a:solidFill>
                  <a:srgbClr val="D97706"/>
                </a:solidFill>
                <a:latin typeface="Arial"/>
              </a:defRPr>
            </a:pPr>
            <a:r>
              <a:t>Step 5: Pick Best Target Host</a:t>
            </a:r>
          </a:p>
          <a:p>
            <a:pPr>
              <a:lnSpc>
                <a:spcPct val="120000"/>
              </a:lnSpc>
              <a:defRPr sz="1000">
                <a:solidFill>
                  <a:srgbClr val="334155"/>
                </a:solidFill>
                <a:latin typeface="Arial"/>
              </a:defRPr>
            </a:pPr>
            <a:r>
              <a:t>Headroom resolver identifies the host with the most available CPU/RAM capacity.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3877056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 rIns="182880" wrap="square"/>
          <a:lstStyle/>
          <a:p>
            <a:pPr algn="ctr">
              <a:spcAft>
                <a:spcPts val="600"/>
              </a:spcAft>
              <a:defRPr b="1" sz="1100">
                <a:solidFill>
                  <a:srgbClr val="D97706"/>
                </a:solidFill>
                <a:latin typeface="Arial"/>
              </a:defRPr>
            </a:pPr>
            <a:r>
              <a:t>Step 6: Run Safety Gate Checks</a:t>
            </a:r>
          </a:p>
          <a:p>
            <a:pPr>
              <a:lnSpc>
                <a:spcPct val="120000"/>
              </a:lnSpc>
              <a:defRPr sz="1000">
                <a:solidFill>
                  <a:srgbClr val="334155"/>
                </a:solidFill>
                <a:latin typeface="Arial"/>
              </a:defRPr>
            </a:pPr>
            <a:r>
              <a:t>Deterministic checks audit RAM margin, CPU ceiling, CPU compatibility, and 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3877056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 rIns="182880" wrap="square"/>
          <a:lstStyle/>
          <a:p>
            <a:pPr algn="ctr">
              <a:spcAft>
                <a:spcPts val="600"/>
              </a:spcAft>
              <a:defRPr b="1" sz="1100">
                <a:solidFill>
                  <a:srgbClr val="10B981"/>
                </a:solidFill>
                <a:latin typeface="Arial"/>
              </a:defRPr>
            </a:pPr>
            <a:r>
              <a:t>Step 7: Operator Approval</a:t>
            </a:r>
          </a:p>
          <a:p>
            <a:pPr>
              <a:lnSpc>
                <a:spcPct val="120000"/>
              </a:lnSpc>
              <a:defRPr sz="1000">
                <a:solidFill>
                  <a:srgbClr val="334155"/>
                </a:solidFill>
                <a:latin typeface="Arial"/>
              </a:defRPr>
            </a:pPr>
            <a:r>
              <a:t>Proposal appears on dashboard; human administrator approves or rejects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3877056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 rIns="182880" wrap="square"/>
          <a:lstStyle/>
          <a:p>
            <a:pPr algn="ctr">
              <a:spcAft>
                <a:spcPts val="600"/>
              </a:spcAft>
              <a:defRPr b="1" sz="1100">
                <a:solidFill>
                  <a:srgbClr val="10B981"/>
                </a:solidFill>
                <a:latin typeface="Arial"/>
              </a:defRPr>
            </a:pPr>
            <a:r>
              <a:t>Step 8: Teleport &amp; Verify Health</a:t>
            </a:r>
          </a:p>
          <a:p>
            <a:pPr>
              <a:lnSpc>
                <a:spcPct val="120000"/>
              </a:lnSpc>
              <a:defRPr sz="1000">
                <a:solidFill>
                  <a:srgbClr val="334155"/>
                </a:solidFill>
                <a:latin typeface="Arial"/>
              </a:defRPr>
            </a:pPr>
            <a:r>
              <a:t>Pre-warm target receiver, stream live RAM via VBoxManage, and verify target execution.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IMPLEMENTATION MODULES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Core Software Components in the VMotion AI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VMotion AI | DA1 Evaluation | VIT Chennai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28600" wrap="square"/>
          <a:lstStyle/>
          <a:p>
            <a:pPr algn="ctr">
              <a:spcAft>
                <a:spcPts val="12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Polls host agents and extracts the 103-dimensional state vector with bounds checking [-1, 1].</a:t>
            </a:r>
          </a:p>
          <a:p>
            <a:pPr>
              <a:defRPr b="1" sz="950">
                <a:solidFill>
                  <a:srgbClr val="2563EB"/>
                </a:solidFill>
                <a:latin typeface="Arial"/>
              </a:defRPr>
            </a:pPr>
            <a:r>
              <a:t>Status: COMPLETE (100%)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TELEMETRY &amp; ADAPTER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6304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28600" wrap="square"/>
          <a:lstStyle/>
          <a:p>
            <a:pPr algn="ctr">
              <a:spcAft>
                <a:spcPts val="12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Loads trained MaskablePPO weights, evaluates policy distributions, and provides heuristic fallback.</a:t>
            </a:r>
          </a:p>
          <a:p>
            <a:pPr>
              <a:defRPr b="1" sz="950">
                <a:solidFill>
                  <a:srgbClr val="4F46E5"/>
                </a:solidFill>
                <a:latin typeface="Arial"/>
              </a:defRPr>
            </a:pPr>
            <a:r>
              <a:t>Status: COMPLETE (V5)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2856" y="16002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PPO DECISION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46304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28600" wrap="square"/>
          <a:lstStyle/>
          <a:p>
            <a:pPr algn="ctr">
              <a:spcAft>
                <a:spcPts val="12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Independently enforces 16 fail-closed rules and typed VBX_* codes; prevents illegal dispatches.</a:t>
            </a:r>
          </a:p>
          <a:p>
            <a:pPr>
              <a:defRPr b="1" sz="950">
                <a:solidFill>
                  <a:srgbClr val="10B981"/>
                </a:solidFill>
                <a:latin typeface="Arial"/>
              </a:defRPr>
            </a:pPr>
            <a:r>
              <a:t>Status: COMPLETE (100%)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2" y="16002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DETERMINISTIC SAFETY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28600" wrap="square"/>
          <a:lstStyle/>
          <a:p>
            <a:pPr algn="ctr">
              <a:spcAft>
                <a:spcPts val="12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Tracks each migration across FSM states, manages operator approval, and verifies post-placement state.</a:t>
            </a:r>
          </a:p>
          <a:p>
            <a:pPr>
              <a:defRPr b="1" sz="950">
                <a:solidFill>
                  <a:srgbClr val="D97706"/>
                </a:solidFill>
                <a:latin typeface="Arial"/>
              </a:defRPr>
            </a:pPr>
            <a:r>
              <a:t>Status: COMPLETE (100%)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MIGRATION FSM PLANNER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39319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28600" wrap="square"/>
          <a:lstStyle/>
          <a:p>
            <a:pPr algn="ctr">
              <a:spcAft>
                <a:spcPts val="12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Wraps VBoxManage and psutil; handles target pre-warming and live memory streaming over LAN.</a:t>
            </a:r>
          </a:p>
          <a:p>
            <a:pPr>
              <a:defRPr b="1" sz="950">
                <a:solidFill>
                  <a:srgbClr val="2563EB"/>
                </a:solidFill>
                <a:latin typeface="Arial"/>
              </a:defRPr>
            </a:pPr>
            <a:r>
              <a:t>Status: COMPLETE &amp;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40690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VIRTUALBOX PROVIDER &amp;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39319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28600" wrap="square"/>
          <a:lstStyle/>
          <a:p>
            <a:pPr algn="ctr">
              <a:spcAft>
                <a:spcPts val="12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React 19 control plane with dedicated Live Demo centerpiece, 3D spatial canvas, and audit logs.</a:t>
            </a:r>
          </a:p>
          <a:p>
            <a:pPr>
              <a:defRPr b="1" sz="950">
                <a:solidFill>
                  <a:srgbClr val="10B981"/>
                </a:solidFill>
                <a:latin typeface="Arial"/>
              </a:defRPr>
            </a:pPr>
            <a:r>
              <a:t>Status: COMPLETE (100%)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40690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CONTROL DASHBOARD (UI)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REINFORCEMENT LEARNING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How the PPO Model Makes Migration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VMotion AI | DA1 Evaluation | VIT Chennai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74320" wrap="square"/>
          <a:lstStyle/>
          <a:p>
            <a:pPr algn="ctr">
              <a:spcAft>
                <a:spcPts val="400"/>
              </a:spcAft>
              <a:defRPr b="1" sz="1100">
                <a:solidFill>
                  <a:srgbClr val="2563EB"/>
                </a:solidFill>
                <a:latin typeface="Arial"/>
              </a:defRPr>
            </a:pPr>
            <a:r>
              <a:t>103-FEATURE OBSERVATION VECTOR:</a:t>
            </a:r>
          </a:p>
          <a:p>
            <a:pPr>
              <a:spcAft>
                <a:spcPts val="1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24 Node Features (0..23): CPU util, RAM util, network RX/TX, disk util, and headroom for all 3 nodes.</a:t>
            </a:r>
            <a:br/>
            <a:r>
              <a:t>• 60 VM Features (24..83): CPU util, RAM allocated, RAM used, network IO, SLA priority, cooldown timer, uptime, and host ID for 6 VMs.</a:t>
            </a:r>
            <a:br/>
            <a:r>
              <a:t>• 19 Cluster Features (84..102): Jain's Fairness Index (CPU/RAM), standard deviation, power index, quorum, and storage health.</a:t>
            </a:r>
          </a:p>
          <a:p>
            <a:pPr>
              <a:spcAft>
                <a:spcPts val="400"/>
              </a:spcAft>
              <a:defRPr b="1" sz="1100">
                <a:solidFill>
                  <a:srgbClr val="2563EB"/>
                </a:solidFill>
                <a:latin typeface="Arial"/>
              </a:defRPr>
            </a:pPr>
            <a:r>
              <a:t>DISCRETE(7) ACTION SPACE:</a:t>
            </a:r>
          </a:p>
          <a:p>
            <a:pPr>
              <a:defRPr sz="1000">
                <a:solidFill>
                  <a:srgbClr val="334155"/>
                </a:solidFill>
                <a:latin typeface="Arial"/>
              </a:defRPr>
            </a:pPr>
            <a:r>
              <a:t>• Action 0 = No-Op (Leave cluster as is; cluster in equilibrium).</a:t>
            </a:r>
            <a:br/>
            <a:r>
              <a:t>• Actions 1..6 = Migrate VM 1 through 6.</a:t>
            </a:r>
            <a:br/>
            <a:r>
              <a:t>• Destination Target = Chosen deterministically by finding the node with the highest unallocated capacity.</a:t>
            </a:r>
            <a:br/>
            <a:r>
              <a:t>• Action Masking = Masks out VMs that migrated within the last 60 seconds or are currently stopped.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STATE &amp; ACTION FORMULATION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74320" wrap="square"/>
          <a:lstStyle/>
          <a:p>
            <a:pPr algn="ctr">
              <a:spcAft>
                <a:spcPts val="400"/>
              </a:spcAft>
              <a:defRPr b="1" sz="1100">
                <a:solidFill>
                  <a:srgbClr val="4F46E5"/>
                </a:solidFill>
                <a:latin typeface="Arial"/>
              </a:defRPr>
            </a:pPr>
            <a:r>
              <a:t>BALANCING GOALS &amp; PENALTIES:</a:t>
            </a:r>
          </a:p>
          <a:p>
            <a:pPr>
              <a:spcAft>
                <a:spcPts val="1200"/>
              </a:spcAft>
              <a:defRPr b="1" sz="1050">
                <a:solidFill>
                  <a:srgbClr val="0F172A"/>
                </a:solidFill>
                <a:latin typeface="Arial"/>
              </a:defRPr>
            </a:pPr>
            <a:r>
              <a:t>Reward = Balance + Stability - SLA Penalty - Overload Penalty - Migration Cost</a:t>
            </a:r>
          </a:p>
          <a:p>
            <a:pPr>
              <a:defRPr b="1" sz="950">
                <a:solidFill>
                  <a:srgbClr val="0F172A"/>
                </a:solidFill>
                <a:latin typeface="Arial"/>
              </a:defRPr>
            </a:pPr>
            <a:r>
              <a:t>+ Load Balance Dividend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Rewards uniform CPU spread across servers using Jain's Fairness Index (+2.5 * Jain).</a:t>
            </a:r>
          </a:p>
          <a:p>
            <a:pPr>
              <a:defRPr b="1" sz="950">
                <a:solidFill>
                  <a:srgbClr val="0F172A"/>
                </a:solidFill>
                <a:latin typeface="Arial"/>
              </a:defRPr>
            </a:pPr>
            <a:r>
              <a:t>+ Stability Bonus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+1.0 reward for choosing No-Op when cluster is already well balanced (prevents flapping).</a:t>
            </a:r>
          </a:p>
          <a:p>
            <a:pPr>
              <a:defRPr b="1" sz="950">
                <a:solidFill>
                  <a:srgbClr val="0F172A"/>
                </a:solidFill>
                <a:latin typeface="Arial"/>
              </a:defRPr>
            </a:pPr>
            <a:r>
              <a:t>- SLA Breach Penalty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-2.0 penalty whenever a workload exceeds its assigned SLA ceiling.</a:t>
            </a:r>
          </a:p>
          <a:p>
            <a:pPr>
              <a:defRPr b="1" sz="950">
                <a:solidFill>
                  <a:srgbClr val="0F172A"/>
                </a:solidFill>
                <a:latin typeface="Arial"/>
              </a:defRPr>
            </a:pPr>
            <a:r>
              <a:t>- Host Overload Penalty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-4.0 penalty if any server exceeds 85% CPU capacity (heavy penalty).</a:t>
            </a:r>
          </a:p>
          <a:p>
            <a:pPr>
              <a:defRPr b="1" sz="950">
                <a:solidFill>
                  <a:srgbClr val="0F172A"/>
                </a:solidFill>
                <a:latin typeface="Arial"/>
              </a:defRPr>
            </a:pPr>
            <a:r>
              <a:t>- Migration Overhead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-0.8 cost for each migration to account for network bandwidth and memory copying.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16002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MULTI-OBJECTIVE REWARD FUNCTION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EXPERIMENTAL RESULTS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Comparing PPO V4 (Collapse) with PPO V5 (Balanced Training)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VMotion AI | DA1 Evaluation | VIT Chennai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wrap="square"/>
          <a:lstStyle/>
          <a:p>
            <a:pPr algn="ctr">
              <a:spcAft>
                <a:spcPts val="800"/>
              </a:spcAft>
              <a:defRPr b="1" sz="1100">
                <a:solidFill>
                  <a:srgbClr val="0F172A"/>
                </a:solidFill>
                <a:latin typeface="Arial"/>
              </a:defRPr>
            </a:pPr>
            <a:r>
              <a:t>Overall Mean Reward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V4: -263.48</a:t>
            </a:r>
          </a:p>
          <a:p>
            <a:pPr>
              <a:spcAft>
                <a:spcPts val="400"/>
              </a:spcAft>
              <a:defRPr b="1" sz="1400">
                <a:solidFill>
                  <a:srgbClr val="10B981"/>
                </a:solidFill>
                <a:latin typeface="Arial"/>
              </a:defRPr>
            </a:pPr>
            <a:r>
              <a:t>V5: +55.81</a:t>
            </a:r>
          </a:p>
          <a:p>
            <a:pPr>
              <a:defRPr b="1" sz="1000">
                <a:solidFill>
                  <a:srgbClr val="10B981"/>
                </a:solidFill>
                <a:latin typeface="Arial"/>
              </a:defRPr>
            </a:pPr>
            <a:r>
              <a:t>Change: +319.29 points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V5 actively balances cluster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46304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wrap="square"/>
          <a:lstStyle/>
          <a:p>
            <a:pPr algn="ctr">
              <a:spcAft>
                <a:spcPts val="800"/>
              </a:spcAft>
              <a:defRPr b="1" sz="1100">
                <a:solidFill>
                  <a:srgbClr val="0F172A"/>
                </a:solidFill>
                <a:latin typeface="Arial"/>
              </a:defRPr>
            </a:pPr>
            <a:r>
              <a:t>Unseen Test Split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V4: -53.16</a:t>
            </a:r>
          </a:p>
          <a:p>
            <a:pPr>
              <a:spcAft>
                <a:spcPts val="400"/>
              </a:spcAft>
              <a:defRPr b="1" sz="1400">
                <a:solidFill>
                  <a:srgbClr val="10B981"/>
                </a:solidFill>
                <a:latin typeface="Arial"/>
              </a:defRPr>
            </a:pPr>
            <a:r>
              <a:t>V5: +154.93</a:t>
            </a:r>
          </a:p>
          <a:p>
            <a:pPr>
              <a:defRPr b="1" sz="1000">
                <a:solidFill>
                  <a:srgbClr val="10B981"/>
                </a:solidFill>
                <a:latin typeface="Arial"/>
              </a:defRPr>
            </a:pPr>
            <a:r>
              <a:t>Change: +208.09 points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Strong generalization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6304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wrap="square"/>
          <a:lstStyle/>
          <a:p>
            <a:pPr algn="ctr">
              <a:spcAft>
                <a:spcPts val="800"/>
              </a:spcAft>
              <a:defRPr b="1" sz="1100">
                <a:solidFill>
                  <a:srgbClr val="0F172A"/>
                </a:solidFill>
                <a:latin typeface="Arial"/>
              </a:defRPr>
            </a:pPr>
            <a:r>
              <a:t>Server Overload Steps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V4: 60.22</a:t>
            </a:r>
          </a:p>
          <a:p>
            <a:pPr>
              <a:spcAft>
                <a:spcPts val="400"/>
              </a:spcAft>
              <a:defRPr b="1" sz="1400">
                <a:solidFill>
                  <a:srgbClr val="2563EB"/>
                </a:solidFill>
                <a:latin typeface="Arial"/>
              </a:defRPr>
            </a:pPr>
            <a:r>
              <a:t>V5: 7.33</a:t>
            </a:r>
          </a:p>
          <a:p>
            <a:pPr>
              <a:defRPr b="1" sz="1000">
                <a:solidFill>
                  <a:srgbClr val="2563EB"/>
                </a:solidFill>
                <a:latin typeface="Arial"/>
              </a:defRPr>
            </a:pPr>
            <a:r>
              <a:t>Change: -52.89 steps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-87.8% hotspot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33688" y="146304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wrap="square"/>
          <a:lstStyle/>
          <a:p>
            <a:pPr algn="ctr">
              <a:spcAft>
                <a:spcPts val="800"/>
              </a:spcAft>
              <a:defRPr b="1" sz="1100">
                <a:solidFill>
                  <a:srgbClr val="0F172A"/>
                </a:solidFill>
                <a:latin typeface="Arial"/>
              </a:defRPr>
            </a:pPr>
            <a:r>
              <a:t>Jain's Fairness Index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V4: 0.7682</a:t>
            </a:r>
          </a:p>
          <a:p>
            <a:pPr>
              <a:spcAft>
                <a:spcPts val="400"/>
              </a:spcAft>
              <a:defRPr b="1" sz="1400">
                <a:solidFill>
                  <a:srgbClr val="4F46E5"/>
                </a:solidFill>
                <a:latin typeface="Arial"/>
              </a:defRPr>
            </a:pPr>
            <a:r>
              <a:t>V5: 0.9288</a:t>
            </a:r>
          </a:p>
          <a:p>
            <a:pPr>
              <a:defRPr b="1" sz="1000">
                <a:solidFill>
                  <a:srgbClr val="4F46E5"/>
                </a:solidFill>
                <a:latin typeface="Arial"/>
              </a:defRPr>
            </a:pPr>
            <a:r>
              <a:t>Change: +0.1606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Significant balance gain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7286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11480" lIns="274320" wrap="square"/>
          <a:lstStyle/>
          <a:p>
            <a:pPr algn="ctr"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Why V4 Failed: PPO V4 was trained on 100% normal, balanced data. Since normal states penalize migrations, the model learned that doing nothing (No-Op) was always best. When tested on severe hotspots, it refused to migrate (0.0 migrations).</a:t>
            </a:r>
          </a:p>
          <a:p>
            <a:pPr>
              <a:defRPr b="1" sz="1000">
                <a:solidFill>
                  <a:srgbClr val="2563EB"/>
                </a:solidFill>
                <a:latin typeface="Arial"/>
              </a:defRPr>
            </a:pPr>
            <a:r>
              <a:t>• How V5 Succeeded: We introduced a balanced 4-scenario sampler (25% Normal, 25% CPU Hotspot, 25% RAM Hotspot, 25% Mixed Overload). By seeing hotspots during training, PPO V5 learned to take targeted action (averaging 2.07 migrations per episode), outperforming baseline heuristics on unseen test scenarios (+154.93).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103628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KEY TAKEAWAY: FIXING TRAINING DISTRIBUTION COLLAPSE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SAFETY LAYER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Deterministic Safety Gate: 8 Core Checks &amp; 16 Strict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VMotion AI | DA1 Evaluation | VIT Chennai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wrap="square"/>
          <a:lstStyle/>
          <a:p>
            <a:pPr algn="ctr">
              <a:defRPr b="1" sz="1050">
                <a:solidFill>
                  <a:srgbClr val="2563EB"/>
                </a:solidFill>
                <a:latin typeface="Arial"/>
              </a:defRPr>
            </a:pPr>
            <a:r>
              <a:t>1. VM Running State (VBX_VM_NOT_RUNNING)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Confirms the VM exists and is currently in an active hypervisor execution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wrap="square"/>
          <a:lstStyle/>
          <a:p>
            <a:pPr algn="ctr">
              <a:defRPr b="1" sz="1050">
                <a:solidFill>
                  <a:srgbClr val="2563EB"/>
                </a:solidFill>
                <a:latin typeface="Arial"/>
              </a:defRPr>
            </a:pPr>
            <a:r>
              <a:t>2. Distinct Target Host (VBX_SAME_HOST)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Ensures source and destination are two different physical servers (src != dest).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wrap="square"/>
          <a:lstStyle/>
          <a:p>
            <a:pPr algn="ctr">
              <a:defRPr b="1" sz="1050">
                <a:solidFill>
                  <a:srgbClr val="2563EB"/>
                </a:solidFill>
                <a:latin typeface="Arial"/>
              </a:defRPr>
            </a:pPr>
            <a:r>
              <a:t>3. Source Node Health (VBX_SOURCE_OFFLINE)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Checks that the source host agent is reachable with zero critical hardware alarms.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wrap="square"/>
          <a:lstStyle/>
          <a:p>
            <a:pPr algn="ctr">
              <a:defRPr b="1" sz="1050">
                <a:solidFill>
                  <a:srgbClr val="2563EB"/>
                </a:solidFill>
                <a:latin typeface="Arial"/>
              </a:defRPr>
            </a:pPr>
            <a:r>
              <a:t>4. Target Node Health (VBX_TARGET_UNREACHABLE)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Ensures the destination server is online and reachable over the LAN network.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46304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wrap="square"/>
          <a:lstStyle/>
          <a:p>
            <a:pPr algn="ctr">
              <a:defRPr b="1" sz="1050">
                <a:solidFill>
                  <a:srgbClr val="2563EB"/>
                </a:solidFill>
                <a:latin typeface="Arial"/>
              </a:defRPr>
            </a:pPr>
            <a:r>
              <a:t>5. Target RAM Headroom (VBX_RAM_INSUFFICIENT)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Target unallocated RAM must fit the VM plus a 20% safety margin buffer.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65176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wrap="square"/>
          <a:lstStyle/>
          <a:p>
            <a:pPr algn="ctr">
              <a:defRPr b="1" sz="1050">
                <a:solidFill>
                  <a:srgbClr val="2563EB"/>
                </a:solidFill>
                <a:latin typeface="Arial"/>
              </a:defRPr>
            </a:pPr>
            <a:r>
              <a:t>6. Target CPU Capacity (VBX_CPU_OVERLOAD)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Projected CPU utilization on the target after migration must remain below 85%.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384048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wrap="square"/>
          <a:lstStyle/>
          <a:p>
            <a:pPr algn="ctr">
              <a:defRPr b="1" sz="1050">
                <a:solidFill>
                  <a:srgbClr val="2563EB"/>
                </a:solidFill>
                <a:latin typeface="Arial"/>
              </a:defRPr>
            </a:pPr>
            <a:r>
              <a:t>7. Storage &amp; Port (VBX_STORAGE_MISSING)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Verifies shared storage accessibility and teleportation port 60050 availability.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502920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wrap="square"/>
          <a:lstStyle/>
          <a:p>
            <a:pPr algn="ctr">
              <a:defRPr b="1" sz="1050">
                <a:solidFill>
                  <a:srgbClr val="2563EB"/>
                </a:solidFill>
                <a:latin typeface="Arial"/>
              </a:defRPr>
            </a:pPr>
            <a:r>
              <a:t>8. 60-Second Cooldown (VBX_COOLDOWN_ACTIVE)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Prevents migrating a VM that was relocated less than 60 seconds ago.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b="1" sz="950">
                <a:solidFill>
                  <a:srgbClr val="D97706"/>
                </a:solidFill>
                <a:latin typeface="Arial"/>
              </a:defRPr>
            </a:pPr>
            <a:r>
              <a:t>FAIL-CLOSED PRINCIPLE: If any check fails, the migration is blocked immediately with a typed VBX_* error code, regardless of what the AI model recommended.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HYPERVISOR INTEGRATION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Oracle VirtualBox Live Teleportation: 2-Host Physical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VMotion AI | DA1 Evaluation | VIT Chennai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74320" wrap="square"/>
          <a:lstStyle/>
          <a:p>
            <a:pPr algn="ctr"/>
          </a:p>
          <a:p>
            <a:pPr>
              <a:defRPr b="1" sz="1050">
                <a:solidFill>
                  <a:srgbClr val="2563EB"/>
                </a:solidFill>
                <a:latin typeface="Arial"/>
              </a:defRPr>
            </a:pPr>
            <a:r>
              <a:t>Target Pre-Warm Receiver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Target VM is placed in listening state: VBoxManage modifyvm &lt;target&gt; --teleporter on --teleporter-port 60050, followed by headless launch.</a:t>
            </a:r>
          </a:p>
          <a:p>
            <a:pPr>
              <a:defRPr b="1" sz="1050">
                <a:solidFill>
                  <a:srgbClr val="2563EB"/>
                </a:solidFill>
                <a:latin typeface="Arial"/>
              </a:defRPr>
            </a:pPr>
            <a:r>
              <a:t>LAN Memory Streaming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Source VM streams active RAM and CPU registers over LAN port 60050 via VBoxManage controlvm &lt;source&gt; teleport --host &lt;target&gt; --port 60050.</a:t>
            </a:r>
          </a:p>
          <a:p>
            <a:pPr>
              <a:defRPr b="1" sz="1050">
                <a:solidFill>
                  <a:srgbClr val="2563EB"/>
                </a:solidFill>
                <a:latin typeface="Arial"/>
              </a:defRPr>
            </a:pPr>
            <a:r>
              <a:t>Shared Network Storage (SMB/NFS)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VM disk images reside on shared network storage; zero multi-gigabyte disk copying is performed during live migration.</a:t>
            </a:r>
          </a:p>
          <a:p>
            <a:pPr>
              <a:defRPr b="1" sz="1050">
                <a:solidFill>
                  <a:srgbClr val="2563EB"/>
                </a:solidFill>
                <a:latin typeface="Arial"/>
              </a:defRPr>
            </a:pPr>
            <a:r>
              <a:t>Post-Teleport Verification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Verifies source VM powers off, target VM resumes execution, and guest OS networking is actively responsive.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NATIVE VBOXMANAGE TELEPORTATION PROTOCOL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74320" wrap="square"/>
          <a:lstStyle/>
          <a:p>
            <a:pPr algn="ctr"/>
          </a:p>
          <a:p>
            <a:pPr>
              <a:defRPr b="1" sz="950">
                <a:solidFill>
                  <a:srgbClr val="0F172A"/>
                </a:solidFill>
                <a:latin typeface="Arial"/>
              </a:defRPr>
            </a:pPr>
            <a:r>
              <a:t>• VirtualBox Host Agent (FastAPI): </a:t>
            </a:r>
            <a:r>
              <a:rPr b="1">
                <a:solidFill>
                  <a:srgbClr val="10B981"/>
                </a:solidFill>
              </a:rPr>
              <a:t>[COMPLETE]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  vmotion-agent/agent.py implements auth, telemetry, and VBoxManage</a:t>
            </a:r>
          </a:p>
          <a:p>
            <a:pPr>
              <a:defRPr b="1" sz="950">
                <a:solidFill>
                  <a:srgbClr val="0F172A"/>
                </a:solidFill>
                <a:latin typeface="Arial"/>
              </a:defRPr>
            </a:pPr>
            <a:r>
              <a:t>• VirtualBox Provider Driver: </a:t>
            </a:r>
            <a:r>
              <a:rPr b="1">
                <a:solidFill>
                  <a:srgbClr val="10B981"/>
                </a:solidFill>
              </a:rPr>
              <a:t>[COMPLETE]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  backend/app/providers/virtualbox.py with compatibility matrix</a:t>
            </a:r>
          </a:p>
          <a:p>
            <a:pPr>
              <a:defRPr b="1" sz="950">
                <a:solidFill>
                  <a:srgbClr val="0F172A"/>
                </a:solidFill>
                <a:latin typeface="Arial"/>
              </a:defRPr>
            </a:pPr>
            <a:r>
              <a:t>• Live Teleport Execution Scripts: </a:t>
            </a:r>
            <a:r>
              <a:rPr b="1">
                <a:solidFill>
                  <a:srgbClr val="10B981"/>
                </a:solidFill>
              </a:rPr>
              <a:t>[COMPLETE]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  7 automated PowerShell run scripts in scripts/ directory</a:t>
            </a:r>
          </a:p>
          <a:p>
            <a:pPr>
              <a:defRPr b="1" sz="950">
                <a:solidFill>
                  <a:srgbClr val="0F172A"/>
                </a:solidFill>
                <a:latin typeface="Arial"/>
              </a:defRPr>
            </a:pPr>
            <a:r>
              <a:t>• Unit &amp; Integration Test Suite: </a:t>
            </a:r>
            <a:r>
              <a:rPr b="1">
                <a:solidFill>
                  <a:srgbClr val="10B981"/>
                </a:solidFill>
              </a:rPr>
              <a:t>[COMPLETE]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  14 dedicated VirtualBox provider and agent unit tests pass 100%</a:t>
            </a:r>
          </a:p>
          <a:p>
            <a:pPr>
              <a:defRPr b="1" sz="950">
                <a:solidFill>
                  <a:srgbClr val="0F172A"/>
                </a:solidFill>
                <a:latin typeface="Arial"/>
              </a:defRPr>
            </a:pPr>
            <a:r>
              <a:t>• Control Plane 'Live Demo' Screen: </a:t>
            </a:r>
            <a:r>
              <a:rPr b="1">
                <a:solidFill>
                  <a:srgbClr val="10B981"/>
                </a:solidFill>
              </a:rPr>
              <a:t>[COMPLETE]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  Dedicated UI screen with compatibility matrix &amp; one-click trigger</a:t>
            </a:r>
          </a:p>
          <a:p>
            <a:pPr>
              <a:defRPr b="1" sz="950">
                <a:solidFill>
                  <a:srgbClr val="0F172A"/>
                </a:solidFill>
                <a:latin typeface="Arial"/>
              </a:defRPr>
            </a:pPr>
            <a:r>
              <a:t>• Physical 2-Host Lab Execution: </a:t>
            </a:r>
            <a:r>
              <a:rPr b="1">
                <a:solidFill>
                  <a:srgbClr val="2563EB"/>
                </a:solidFill>
              </a:rPr>
              <a:t>[DEMO READY]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  Ready to execute across two lab computers sharing LAN and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16002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IMPLEMENTATION &amp; DEMONSTRATION READINESS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CONTROL PLANE UI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Real-Time 3D Cluster Monitoring &amp; Live Demo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VMotion AI | DA1 Evaluation | VIT Chennai</a:t>
            </a:r>
          </a:p>
        </p:txBody>
      </p:sp>
      <p:pic>
        <p:nvPicPr>
          <p:cNvPr id="5" name="Picture 4" descr="01_hero_spatial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2931795"/>
          </a:xfrm>
          <a:prstGeom prst="rect">
            <a:avLst/>
          </a:prstGeom>
        </p:spPr>
      </p:pic>
      <p:pic>
        <p:nvPicPr>
          <p:cNvPr id="6" name="Picture 5" descr="02_ai_engine_decision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1463040"/>
            <a:ext cx="5212080" cy="29317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57200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182880" wrap="square"/>
          <a:lstStyle/>
          <a:p>
            <a:pPr algn="ctr">
              <a:defRPr sz="950">
                <a:solidFill>
                  <a:srgbClr val="334155"/>
                </a:solidFill>
                <a:latin typeface="Arial"/>
              </a:defRPr>
            </a:pPr>
            <a:r>
              <a:t>Displays interactive Three.js 3D cluster with host pedestals proportional to CPU load, orbiting VMs with SLA priority rings, and cluster-wide telemetry figures.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3D CLUSTER OVERVIEW &amp; SPATIAL TELEMETRY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457200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182880" wrap="square"/>
          <a:lstStyle/>
          <a:p>
            <a:pPr algn="ctr">
              <a:defRPr sz="950">
                <a:solidFill>
                  <a:srgbClr val="334155"/>
                </a:solidFill>
                <a:latin typeface="Arial"/>
              </a:defRPr>
            </a:pPr>
            <a:r>
              <a:t>Features dedicated '★ Live Demo' screen with pre-flight hardware compatibility matrix, one-click teleport dispatch, and live PPO policy evaluation breakdown.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0975" y="47091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AI DECISION ENGINE &amp; LIVE DEMO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PROJECT COMPLETION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Implementation Progress &amp; Defensible Completion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VMotion AI | DA1 Evaluation | VIT Chennai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74320" wrap="square"/>
          <a:lstStyle/>
          <a:p>
            <a:pPr algn="ctr">
              <a:defRPr b="1" sz="1050">
                <a:solidFill>
                  <a:srgbClr val="2563EB"/>
                </a:solidFill>
                <a:latin typeface="Arial"/>
              </a:defRPr>
            </a:pPr>
            <a:r>
              <a:t>SOFTWARE IMPLEMENTATION:</a:t>
            </a:r>
          </a:p>
          <a:p>
            <a:pPr>
              <a:spcAft>
                <a:spcPts val="600"/>
              </a:spcAft>
              <a:defRPr b="1" sz="3600">
                <a:solidFill>
                  <a:srgbClr val="10B981"/>
                </a:solidFill>
                <a:latin typeface="Arial"/>
              </a:defRPr>
            </a:pPr>
            <a:r>
              <a:t>100%</a:t>
            </a:r>
          </a:p>
          <a:p>
            <a:pPr>
              <a:spcAft>
                <a:spcPts val="18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All software components—FastAPI backend, 103-feature adapter, PPO V5 model, safety gate, VirtualBox provider, host agent, 3D frontend, and 110 automated tests—are fully written and verified.</a:t>
            </a:r>
          </a:p>
          <a:p>
            <a:pPr>
              <a:defRPr b="1" sz="1050">
                <a:solidFill>
                  <a:srgbClr val="2563EB"/>
                </a:solidFill>
                <a:latin typeface="Arial"/>
              </a:defRPr>
            </a:pPr>
            <a:r>
              <a:t>PHYSICAL HARDWARE DEMONSTRATION:</a:t>
            </a:r>
          </a:p>
          <a:p>
            <a:pPr>
              <a:spcAft>
                <a:spcPts val="600"/>
              </a:spcAft>
              <a:defRPr b="1" sz="2400">
                <a:solidFill>
                  <a:srgbClr val="2563EB"/>
                </a:solidFill>
                <a:latin typeface="Arial"/>
              </a:defRPr>
            </a:pPr>
            <a:r>
              <a:t>DEMO READY</a:t>
            </a:r>
          </a:p>
          <a:p>
            <a:pPr>
              <a:defRPr sz="1000">
                <a:solidFill>
                  <a:srgbClr val="334155"/>
                </a:solidFill>
                <a:latin typeface="Arial"/>
              </a:defRPr>
            </a:pPr>
            <a:r>
              <a:t>Oracle VirtualBox Teleportation scripts and agent services are completely built and verified on local VBoxManage; execution occurs when two physical computers are connected on LAN with shared storage.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VERIFIED COMPLETION STATUS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48095" y="1463040"/>
          <a:ext cx="52120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097280"/>
                <a:gridCol w="164592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Architecture &amp; Interface Specs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Backend &amp; Control Plane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Telemetry &amp; 103-Dim Adapter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PPO / Reinforcement Learning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 (V5)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Safety Gate &amp; Teleport FSM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VirtualBox Provider &amp;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Frontend Control Dashboard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Automated Tests (110 Tests)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(110 Tests 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Demo Automation Scripts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TESTING &amp; VALIDATION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Automated Regression Test Suite &amp; Build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VMotion AI | DA1 Evaluation | VIT Chennai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11480" lIns="182880" wrap="square"/>
          <a:lstStyle/>
          <a:p>
            <a:pPr algn="ctr">
              <a:defRPr b="1" sz="1700">
                <a:solidFill>
                  <a:srgbClr val="10B981"/>
                </a:solidFill>
                <a:latin typeface="Arial"/>
              </a:defRPr>
            </a:pPr>
            <a:r>
              <a:t>110 Passed / 0 Failed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Runtime: 21.53s across 13 test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BACKEND TESTS (PYTEST)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63040"/>
            <a:ext cx="3429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11480" lIns="182880" wrap="square"/>
          <a:lstStyle/>
          <a:p>
            <a:pPr algn="ctr">
              <a:defRPr b="1" sz="1700">
                <a:solidFill>
                  <a:srgbClr val="2563EB"/>
                </a:solidFill>
                <a:latin typeface="Arial"/>
              </a:defRPr>
            </a:pPr>
            <a:r>
              <a:t>1,892 Modules Transformed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0 TypeScript errors • Clean bundle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2856" y="16002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FRONTEND BUILD (VITE)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1463040"/>
            <a:ext cx="3429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11480" lIns="182880" wrap="square"/>
          <a:lstStyle/>
          <a:p>
            <a:pPr algn="ctr">
              <a:defRPr b="1" sz="1700">
                <a:solidFill>
                  <a:srgbClr val="4F46E5"/>
                </a:solidFill>
                <a:latin typeface="Arial"/>
              </a:defRPr>
            </a:pPr>
            <a:r>
              <a:t>600 Benchmark Episodes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Evaluated across 10 distinct cluster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1" y="16002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BENCHMARK HARNESS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10728655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74320" wrap="square"/>
          <a:lstStyle/>
          <a:p>
            <a:pPr algn="ctr"/>
          </a:p>
          <a:p>
            <a:pPr>
              <a:spcAft>
                <a:spcPts val="500"/>
              </a:spcAft>
              <a:defRPr b="1" sz="1000">
                <a:solidFill>
                  <a:srgbClr val="0F172A"/>
                </a:solidFill>
                <a:latin typeface="Arial"/>
              </a:defRPr>
            </a:pPr>
            <a:r>
              <a:t>• VirtualBox Provider Tests (8 tests): </a:t>
            </a:r>
            <a:r>
              <a:rPr sz="950">
                <a:solidFill>
                  <a:srgbClr val="334155"/>
                </a:solidFill>
                <a:latin typeface="Arial"/>
              </a:rPr>
              <a:t>Verifies VBoxManage path discovery, showvminfo parser, compatibility matrix, pre-warming, and placement checks.</a:t>
            </a:r>
          </a:p>
          <a:p>
            <a:pPr>
              <a:spcAft>
                <a:spcPts val="500"/>
              </a:spcAft>
              <a:defRPr b="1" sz="1000">
                <a:solidFill>
                  <a:srgbClr val="0F172A"/>
                </a:solidFill>
                <a:latin typeface="Arial"/>
              </a:defRPr>
            </a:pPr>
            <a:r>
              <a:t>• VirtualBox Agent Tests (6 tests): </a:t>
            </a:r>
            <a:r>
              <a:rPr sz="950">
                <a:solidFill>
                  <a:srgbClr val="334155"/>
                </a:solidFill>
                <a:latin typeface="Arial"/>
              </a:rPr>
              <a:t>Tests FastAPI host agent endpoints: health, inventory, psutil telemetry, teleporter pre-warm, and storage checks.</a:t>
            </a:r>
          </a:p>
          <a:p>
            <a:pPr>
              <a:spcAft>
                <a:spcPts val="500"/>
              </a:spcAft>
              <a:defRPr b="1" sz="1000">
                <a:solidFill>
                  <a:srgbClr val="0F172A"/>
                </a:solidFill>
                <a:latin typeface="Arial"/>
              </a:defRPr>
            </a:pPr>
            <a:r>
              <a:t>• Safety Gate Tests (12 tests): </a:t>
            </a:r>
            <a:r>
              <a:rPr sz="950">
                <a:solidFill>
                  <a:srgbClr val="334155"/>
                </a:solidFill>
                <a:latin typeface="Arial"/>
              </a:rPr>
              <a:t>Verifies all 8 rules block on: identical hosts, offline servers, stopped VMs, high RAM, high CPU, and active cooldown.</a:t>
            </a:r>
          </a:p>
          <a:p>
            <a:pPr>
              <a:spcAft>
                <a:spcPts val="500"/>
              </a:spcAft>
              <a:defRPr b="1" sz="1000">
                <a:solidFill>
                  <a:srgbClr val="0F172A"/>
                </a:solidFill>
                <a:latin typeface="Arial"/>
              </a:defRPr>
            </a:pPr>
            <a:r>
              <a:t>• Observation Spec Tests (8 tests): </a:t>
            </a:r>
            <a:r>
              <a:rPr sz="950">
                <a:solidFill>
                  <a:srgbClr val="334155"/>
                </a:solidFill>
                <a:latin typeface="Arial"/>
              </a:rPr>
              <a:t>Verifies exact 103 feature dimension, [-1.0, 1.0] mathematical bounds, and deterministic node/VM sorting order.</a:t>
            </a:r>
          </a:p>
          <a:p>
            <a:pPr>
              <a:spcAft>
                <a:spcPts val="500"/>
              </a:spcAft>
              <a:defRPr b="1" sz="1000">
                <a:solidFill>
                  <a:srgbClr val="0F172A"/>
                </a:solidFill>
                <a:latin typeface="Arial"/>
              </a:defRPr>
            </a:pPr>
            <a:r>
              <a:t>• Migration Lifecycle Tests (10 tests): </a:t>
            </a:r>
            <a:r>
              <a:rPr sz="950">
                <a:solidFill>
                  <a:srgbClr val="334155"/>
                </a:solidFill>
                <a:latin typeface="Arial"/>
              </a:rPr>
              <a:t>Asserts valid FSM progression and verifies illegal transitions raise InvalidStateTransitionError.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103628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AUTOMATED TEST COVERAGE BY SUBSYSTEM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PROJECT ACHIEVEMENTS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What Has Been Accomplished in VMotion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VMotion AI | DA1 Evaluation | VIT Chennai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28600" wrap="square"/>
          <a:lstStyle/>
          <a:p>
            <a:pPr algn="ctr">
              <a:lnSpc>
                <a:spcPct val="120000"/>
              </a:lnSpc>
              <a:defRPr sz="1000">
                <a:solidFill>
                  <a:srgbClr val="334155"/>
                </a:solidFill>
                <a:latin typeface="Arial"/>
              </a:defRPr>
            </a:pPr>
            <a:r>
              <a:t>Proved that reinforcement learning can be safely used for cluster rebalancing by placing a deterministic, fail-closed safety gate between the AI and hypervisors.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1. DECOUPLED AI &amp; SAFETY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28600" wrap="square"/>
          <a:lstStyle/>
          <a:p>
            <a:pPr algn="ctr">
              <a:lnSpc>
                <a:spcPct val="120000"/>
              </a:lnSpc>
              <a:defRPr sz="1000">
                <a:solidFill>
                  <a:srgbClr val="334155"/>
                </a:solidFill>
                <a:latin typeface="Arial"/>
              </a:defRPr>
            </a:pPr>
            <a:r>
              <a:t>Diagnosed why single-scenario training caused the model to collapse to zero migrations, and resolved it with balanced multi-scenario sampling (+319.29 reward gain).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16002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2. OVERCOMING POLICY COLLAPSE (PPO V5)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28600" wrap="square"/>
          <a:lstStyle/>
          <a:p>
            <a:pPr algn="ctr">
              <a:lnSpc>
                <a:spcPct val="120000"/>
              </a:lnSpc>
              <a:defRPr sz="1000">
                <a:solidFill>
                  <a:srgbClr val="334155"/>
                </a:solidFill>
                <a:latin typeface="Arial"/>
              </a:defRPr>
            </a:pPr>
            <a:r>
              <a:t>Built a complete 2-host live migration control plane using native VBoxManage commands, standalone host agents, and shared network storage.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3. REAL ORACLE VIRTUALBOX TELEPORTATION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93192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28600" wrap="square"/>
          <a:lstStyle/>
          <a:p>
            <a:pPr algn="ctr">
              <a:lnSpc>
                <a:spcPct val="120000"/>
              </a:lnSpc>
              <a:defRPr sz="1000">
                <a:solidFill>
                  <a:srgbClr val="334155"/>
                </a:solidFill>
                <a:latin typeface="Arial"/>
              </a:defRPr>
            </a:pPr>
            <a:r>
              <a:t>Developed an interactive React 19 control plane with Three.js 3D cluster visualization, dedicated Live Demo centerpiece, and append-only audit logging.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0975" y="4069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4. MODERN 3D WEB DASHBOARD &amp; DEMO SCREEN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CURRENT SCOPE &amp; BOUNDARIES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Software Verified vs. Physical Laboratory Demonstration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VMotion AI | DA1 Evaluation | VIT Chennai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74320" wrap="square"/>
          <a:lstStyle/>
          <a:p>
            <a:pPr algn="ctr"/>
          </a:p>
          <a:p>
            <a:pPr>
              <a:spcAft>
                <a:spcPts val="600"/>
              </a:spcAft>
              <a:defRPr b="1" sz="1000">
                <a:solidFill>
                  <a:srgbClr val="10B981"/>
                </a:solidFill>
                <a:latin typeface="Arial"/>
              </a:defRPr>
            </a:pPr>
            <a:r>
              <a:t>✔ 103-Feature Telemetry Adapter: </a:t>
            </a:r>
            <a:r>
              <a:rPr sz="900">
                <a:solidFill>
                  <a:srgbClr val="334155"/>
                </a:solidFill>
                <a:latin typeface="Arial"/>
              </a:rPr>
              <a:t>Continuous normalized vector extraction validated against mathematical bounds.</a:t>
            </a:r>
          </a:p>
          <a:p>
            <a:pPr>
              <a:spcAft>
                <a:spcPts val="600"/>
              </a:spcAft>
              <a:defRPr b="1" sz="1000">
                <a:solidFill>
                  <a:srgbClr val="10B981"/>
                </a:solidFill>
                <a:latin typeface="Arial"/>
              </a:defRPr>
            </a:pPr>
            <a:r>
              <a:t>✔ PPO V5 Decision Model: </a:t>
            </a:r>
            <a:r>
              <a:rPr sz="900">
                <a:solidFill>
                  <a:srgbClr val="334155"/>
                </a:solidFill>
                <a:latin typeface="Arial"/>
              </a:rPr>
              <a:t>Trained model evaluated across 600 benchmark episodes with verified SHA-256 hash.</a:t>
            </a:r>
          </a:p>
          <a:p>
            <a:pPr>
              <a:spcAft>
                <a:spcPts val="600"/>
              </a:spcAft>
              <a:defRPr b="1" sz="1000">
                <a:solidFill>
                  <a:srgbClr val="10B981"/>
                </a:solidFill>
                <a:latin typeface="Arial"/>
              </a:defRPr>
            </a:pPr>
            <a:r>
              <a:t>✔ Deterministic Safety Gate: </a:t>
            </a:r>
            <a:r>
              <a:rPr sz="900">
                <a:solidFill>
                  <a:srgbClr val="334155"/>
                </a:solidFill>
                <a:latin typeface="Arial"/>
              </a:rPr>
              <a:t>16 fail-closed rules and typed error codes (VBX_*) independently verified.</a:t>
            </a:r>
          </a:p>
          <a:p>
            <a:pPr>
              <a:spcAft>
                <a:spcPts val="600"/>
              </a:spcAft>
              <a:defRPr b="1" sz="1000">
                <a:solidFill>
                  <a:srgbClr val="10B981"/>
                </a:solidFill>
                <a:latin typeface="Arial"/>
              </a:defRPr>
            </a:pPr>
            <a:r>
              <a:t>✔ VirtualBox Control Plane &amp; Agent: </a:t>
            </a:r>
            <a:r>
              <a:rPr sz="900">
                <a:solidFill>
                  <a:srgbClr val="334155"/>
                </a:solidFill>
                <a:latin typeface="Arial"/>
              </a:rPr>
              <a:t>Fully verified through 14 unit and integration tests against local VBoxManage.</a:t>
            </a:r>
          </a:p>
          <a:p>
            <a:pPr>
              <a:spcAft>
                <a:spcPts val="600"/>
              </a:spcAft>
              <a:defRPr b="1" sz="1000">
                <a:solidFill>
                  <a:srgbClr val="10B981"/>
                </a:solidFill>
                <a:latin typeface="Arial"/>
              </a:defRPr>
            </a:pPr>
            <a:r>
              <a:t>✔ React 19 &amp; Three.js Web UI: </a:t>
            </a:r>
            <a:r>
              <a:rPr sz="900">
                <a:solidFill>
                  <a:srgbClr val="334155"/>
                </a:solidFill>
                <a:latin typeface="Arial"/>
              </a:rPr>
              <a:t>Production frontend build passes with zero TypeScript or linting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VALIDATED IN SOFTWARE &amp; TEST HARNESS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74320" wrap="square"/>
          <a:lstStyle/>
          <a:p>
            <a:pPr algn="ctr"/>
          </a:p>
          <a:p>
            <a:pPr>
              <a:spcAft>
                <a:spcPts val="600"/>
              </a:spcAft>
              <a:defRPr b="1" sz="1000">
                <a:solidFill>
                  <a:srgbClr val="2563EB"/>
                </a:solidFill>
                <a:latin typeface="Arial"/>
              </a:defRPr>
            </a:pPr>
            <a:r>
              <a:t>⚙ Two Physical Host Execution: </a:t>
            </a:r>
            <a:r>
              <a:rPr sz="900">
                <a:solidFill>
                  <a:srgbClr val="334155"/>
                </a:solidFill>
                <a:latin typeface="Arial"/>
              </a:rPr>
              <a:t>Software is 100% complete; physical migration triggers when run on two lab PCs.</a:t>
            </a:r>
          </a:p>
          <a:p>
            <a:pPr>
              <a:spcAft>
                <a:spcPts val="600"/>
              </a:spcAft>
              <a:defRPr b="1" sz="1000">
                <a:solidFill>
                  <a:srgbClr val="2563EB"/>
                </a:solidFill>
                <a:latin typeface="Arial"/>
              </a:defRPr>
            </a:pPr>
            <a:r>
              <a:t>⚙ Shared Network Storage Mount: </a:t>
            </a:r>
            <a:r>
              <a:rPr sz="900">
                <a:solidFill>
                  <a:srgbClr val="334155"/>
                </a:solidFill>
                <a:latin typeface="Arial"/>
              </a:rPr>
              <a:t>Requires mounting the central SMB/NFS storage share on both physical computers.</a:t>
            </a:r>
          </a:p>
          <a:p>
            <a:pPr>
              <a:spcAft>
                <a:spcPts val="600"/>
              </a:spcAft>
              <a:defRPr b="1" sz="1000">
                <a:solidFill>
                  <a:srgbClr val="2563EB"/>
                </a:solidFill>
                <a:latin typeface="Arial"/>
              </a:defRPr>
            </a:pPr>
            <a:r>
              <a:t>⚙ Firewall TCP Port 60050: </a:t>
            </a:r>
            <a:r>
              <a:rPr sz="900">
                <a:solidFill>
                  <a:srgbClr val="334155"/>
                </a:solidFill>
                <a:latin typeface="Arial"/>
              </a:rPr>
              <a:t>Requires ensuring Windows Firewall allows TCP port 60050 on the destination PC.</a:t>
            </a:r>
          </a:p>
          <a:p>
            <a:pPr>
              <a:spcAft>
                <a:spcPts val="600"/>
              </a:spcAft>
              <a:defRPr b="1" sz="1000">
                <a:solidFill>
                  <a:srgbClr val="2563EB"/>
                </a:solidFill>
                <a:latin typeface="Arial"/>
              </a:defRPr>
            </a:pPr>
            <a:r>
              <a:t>⚙ Fixed Discrete Action Space: </a:t>
            </a:r>
            <a:r>
              <a:rPr sz="900">
                <a:solidFill>
                  <a:srgbClr val="334155"/>
                </a:solidFill>
                <a:latin typeface="Arial"/>
              </a:rPr>
              <a:t>Currently dimensioned for 3 nodes and 6 VMs; larger clusters will use GNN policies.</a:t>
            </a:r>
          </a:p>
          <a:p>
            <a:pPr>
              <a:spcAft>
                <a:spcPts val="600"/>
              </a:spcAft>
              <a:defRPr b="1" sz="1000">
                <a:solidFill>
                  <a:srgbClr val="2563EB"/>
                </a:solidFill>
                <a:latin typeface="Arial"/>
              </a:defRPr>
            </a:pPr>
            <a:r>
              <a:t>⚙ Predictive Contention Detection: </a:t>
            </a:r>
            <a:r>
              <a:rPr sz="900">
                <a:solidFill>
                  <a:srgbClr val="334155"/>
                </a:solidFill>
                <a:latin typeface="Arial"/>
              </a:rPr>
              <a:t>Designated for future work to trigger migrations 2 minutes before contention peaks.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16002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PHYSICAL LABORATORY DEMONSTRATION EXECUTION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CONCLUSION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Summary of Work Done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VMotion AI | DA1 Evaluation | VIT Chennai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74320" wrap="square"/>
          <a:lstStyle/>
          <a:p>
            <a:pPr algn="ctr">
              <a:spcAft>
                <a:spcPts val="600"/>
              </a:spcAft>
              <a:defRPr b="1" sz="1100">
                <a:solidFill>
                  <a:srgbClr val="2563EB"/>
                </a:solidFill>
                <a:latin typeface="Arial"/>
              </a:defRPr>
            </a:pPr>
            <a:r>
              <a:t>WHAT VMOTION AI DOES:</a:t>
            </a:r>
          </a:p>
          <a:p>
            <a:pPr>
              <a:spcAft>
                <a:spcPts val="1600"/>
              </a:spcAft>
              <a:defRPr sz="1200" i="1">
                <a:solidFill>
                  <a:srgbClr val="0F172A"/>
                </a:solidFill>
                <a:latin typeface="Arial"/>
              </a:defRPr>
            </a:pPr>
            <a:r>
              <a:t>"VMotion AI combines reinforcement learning (PPO), a deterministic safety gate, and native Oracle VirtualBox teleportation to achieve intelligent, safe live VM migrations between physical computers."</a:t>
            </a:r>
          </a:p>
          <a:p>
            <a:pPr>
              <a:spcAft>
                <a:spcPts val="400"/>
              </a:spcAft>
              <a:defRPr b="1" sz="1050">
                <a:solidFill>
                  <a:srgbClr val="0F172A"/>
                </a:solidFill>
                <a:latin typeface="Arial"/>
              </a:defRPr>
            </a:pPr>
            <a:r>
              <a:t>Key Verified Results: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PPO V5 model achieved +154.93 on unseen test scenarios.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Server overload time reduced by 87.8% compared to V4.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Deterministic safety gate with 16 checks prevents illegal migrations.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110 automated backend tests passing with zero failures.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100% software implementation completion.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PROJECT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274320" wrap="square"/>
          <a:lstStyle/>
          <a:p>
            <a:pPr algn="ctr">
              <a:spcAft>
                <a:spcPts val="600"/>
              </a:spcAft>
              <a:defRPr b="1" sz="1100">
                <a:solidFill>
                  <a:srgbClr val="4F46E5"/>
                </a:solidFill>
                <a:latin typeface="Arial"/>
              </a:defRPr>
            </a:pPr>
            <a:r>
              <a:t>NEXT DEVELOPMENT STEPS:</a:t>
            </a:r>
          </a:p>
          <a:p>
            <a:pPr>
              <a:defRPr b="1" sz="1000">
                <a:solidFill>
                  <a:srgbClr val="0F172A"/>
                </a:solidFill>
                <a:latin typeface="Arial"/>
              </a:defRPr>
            </a:pPr>
            <a:r>
              <a:t>1. Lab Two-Host Demonstration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Execute live teleportation between two physical computers in the VIT Chennai networking lab using run_live_migration_demo.ps1.</a:t>
            </a:r>
          </a:p>
          <a:p>
            <a:pPr>
              <a:defRPr b="1" sz="1000">
                <a:solidFill>
                  <a:srgbClr val="0F172A"/>
                </a:solidFill>
                <a:latin typeface="Arial"/>
              </a:defRPr>
            </a:pPr>
            <a:r>
              <a:t>2. Multi-VM Teleportation Queue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Extend host agent to manage concurrent teleportation pipelines with dynamic port reservation.</a:t>
            </a:r>
          </a:p>
          <a:p>
            <a:pPr>
              <a:defRPr b="1" sz="1000">
                <a:solidFill>
                  <a:srgbClr val="0F172A"/>
                </a:solidFill>
                <a:latin typeface="Arial"/>
              </a:defRPr>
            </a:pPr>
            <a:r>
              <a:t>3. GNN Policy Exploration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Investigate Graph Neural Networks to support clusters of arbitrary size (10+ physical nodes).</a:t>
            </a:r>
          </a:p>
          <a:p>
            <a:pPr>
              <a:defRPr b="1" sz="1000">
                <a:solidFill>
                  <a:srgbClr val="0F172A"/>
                </a:solidFill>
                <a:latin typeface="Arial"/>
              </a:defRPr>
            </a:pPr>
            <a:r>
              <a:t>4. Predictive Contention Pre-empting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Use lightweight forecasting (e.g. ARIMA) to trigger migrations 2 minutes before contention peaks.</a:t>
            </a:r>
          </a:p>
          <a:p>
            <a:br/>
            <a:pPr>
              <a:defRPr b="1" sz="1200">
                <a:solidFill>
                  <a:srgbClr val="2563EB"/>
                </a:solidFill>
                <a:latin typeface="Arial"/>
              </a:defRPr>
            </a:pPr>
            <a:r>
              <a:t>Thank You! Questions &amp; Discussion Welcome.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16002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NEXT MILESTONES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